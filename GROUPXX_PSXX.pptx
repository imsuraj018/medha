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rial" panose="020B0604020202020204" pitchFamily="34" charset="0"/>
      <p:regular r:id="rId16"/>
    </p:embeddedFont>
    <p:embeddedFont>
      <p:font typeface="Arial Bold" panose="020B0704020202020204" pitchFamily="34" charset="0"/>
      <p:regular r:id="rId17"/>
    </p:embeddedFont>
    <p:embeddedFont>
      <p:font typeface="Calibri (MS)" panose="020F0502020204030204" pitchFamily="34" charset="0"/>
      <p:regular r:id="rId18"/>
    </p:embeddedFont>
    <p:embeddedFont>
      <p:font typeface="Calibri (MS) Bold" panose="020F0702030404030204" pitchFamily="34" charset="0"/>
      <p:regular r:id="rId19"/>
    </p:embeddedFont>
    <p:embeddedFont>
      <p:font typeface="Calibri (MS) Italics" panose="020F05020202040A0204" pitchFamily="3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3.fntdata"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2.fntdata" /><Relationship Id="rId2" Type="http://schemas.openxmlformats.org/officeDocument/2006/relationships/slide" Target="slides/slide1.xml" /><Relationship Id="rId16" Type="http://schemas.openxmlformats.org/officeDocument/2006/relationships/font" Target="fonts/font1.fntdata" /><Relationship Id="rId20" Type="http://schemas.openxmlformats.org/officeDocument/2006/relationships/font" Target="fonts/font5.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notesMaster" Target="notesMasters/notesMaster1.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font" Target="fonts/font4.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 /><Relationship Id="rId13" Type="http://schemas.openxmlformats.org/officeDocument/2006/relationships/image" Target="../media/image11.png" /><Relationship Id="rId3" Type="http://schemas.openxmlformats.org/officeDocument/2006/relationships/image" Target="../media/image1.png" /><Relationship Id="rId7" Type="http://schemas.openxmlformats.org/officeDocument/2006/relationships/image" Target="../media/image5.png" /><Relationship Id="rId12" Type="http://schemas.openxmlformats.org/officeDocument/2006/relationships/image" Target="../media/image10.png" /><Relationship Id="rId2" Type="http://schemas.openxmlformats.org/officeDocument/2006/relationships/notesSlide" Target="../notesSlides/notesSlide1.xml" /><Relationship Id="rId1" Type="http://schemas.openxmlformats.org/officeDocument/2006/relationships/slideLayout" Target="../slideLayouts/slideLayout7.xml" /><Relationship Id="rId6" Type="http://schemas.openxmlformats.org/officeDocument/2006/relationships/image" Target="../media/image4.png" /><Relationship Id="rId11" Type="http://schemas.openxmlformats.org/officeDocument/2006/relationships/image" Target="../media/image9.png" /><Relationship Id="rId5" Type="http://schemas.openxmlformats.org/officeDocument/2006/relationships/image" Target="../media/image3.jpeg" /><Relationship Id="rId10" Type="http://schemas.openxmlformats.org/officeDocument/2006/relationships/image" Target="../media/image8.png" /><Relationship Id="rId4" Type="http://schemas.openxmlformats.org/officeDocument/2006/relationships/image" Target="../media/image2.png" /><Relationship Id="rId9" Type="http://schemas.openxmlformats.org/officeDocument/2006/relationships/image" Target="../media/image7.png" /></Relationships>
</file>

<file path=ppt/slides/_rels/slide2.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2.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3.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3.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4.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4.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5.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5.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6.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6.xml" /><Relationship Id="rId1" Type="http://schemas.openxmlformats.org/officeDocument/2006/relationships/slideLayout" Target="../slideLayouts/slideLayout7.xml" /><Relationship Id="rId6" Type="http://schemas.openxmlformats.org/officeDocument/2006/relationships/image" Target="../media/image3.jpeg" /><Relationship Id="rId11" Type="http://schemas.openxmlformats.org/officeDocument/2006/relationships/image" Target="../media/image8.png" /><Relationship Id="rId5" Type="http://schemas.openxmlformats.org/officeDocument/2006/relationships/image" Target="../media/image12.pn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7.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7.xml" /><Relationship Id="rId1" Type="http://schemas.openxmlformats.org/officeDocument/2006/relationships/slideLayout" Target="../slideLayouts/slideLayout7.xml" /><Relationship Id="rId6" Type="http://schemas.openxmlformats.org/officeDocument/2006/relationships/image" Target="../media/image3.jpeg" /><Relationship Id="rId11" Type="http://schemas.openxmlformats.org/officeDocument/2006/relationships/image" Target="../media/image8.png" /><Relationship Id="rId5" Type="http://schemas.openxmlformats.org/officeDocument/2006/relationships/image" Target="../media/image12.pn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8.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8.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9.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9.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10.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10.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11.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11.xml" /><Relationship Id="rId1" Type="http://schemas.openxmlformats.org/officeDocument/2006/relationships/slideLayout" Target="../slideLayouts/slideLayout7.xml" /><Relationship Id="rId6" Type="http://schemas.openxmlformats.org/officeDocument/2006/relationships/image" Target="../media/image3.jpeg" /><Relationship Id="rId11" Type="http://schemas.openxmlformats.org/officeDocument/2006/relationships/image" Target="../media/image8.png" /><Relationship Id="rId5" Type="http://schemas.openxmlformats.org/officeDocument/2006/relationships/image" Target="../media/image12.pn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12.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12.xml" /><Relationship Id="rId1" Type="http://schemas.openxmlformats.org/officeDocument/2006/relationships/slideLayout" Target="../slideLayouts/slideLayout7.xml" /><Relationship Id="rId6" Type="http://schemas.openxmlformats.org/officeDocument/2006/relationships/image" Target="../media/image3.jpeg" /><Relationship Id="rId11" Type="http://schemas.openxmlformats.org/officeDocument/2006/relationships/image" Target="../media/image8.png" /><Relationship Id="rId5" Type="http://schemas.openxmlformats.org/officeDocument/2006/relationships/image" Target="../media/image12.pn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_rels/slide13.xml.rels><?xml version="1.0" encoding="UTF-8" standalone="yes"?>
<Relationships xmlns="http://schemas.openxmlformats.org/package/2006/relationships"><Relationship Id="rId8" Type="http://schemas.openxmlformats.org/officeDocument/2006/relationships/image" Target="../media/image5.png" /><Relationship Id="rId13" Type="http://schemas.openxmlformats.org/officeDocument/2006/relationships/image" Target="../media/image10.png" /><Relationship Id="rId3" Type="http://schemas.openxmlformats.org/officeDocument/2006/relationships/image" Target="../media/image1.png" /><Relationship Id="rId7" Type="http://schemas.openxmlformats.org/officeDocument/2006/relationships/image" Target="../media/image4.png" /><Relationship Id="rId12" Type="http://schemas.openxmlformats.org/officeDocument/2006/relationships/image" Target="../media/image9.png" /><Relationship Id="rId2" Type="http://schemas.openxmlformats.org/officeDocument/2006/relationships/notesSlide" Target="../notesSlides/notesSlide13.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8.png" /><Relationship Id="rId5" Type="http://schemas.openxmlformats.org/officeDocument/2006/relationships/image" Target="../media/image3.jpeg" /><Relationship Id="rId15" Type="http://schemas.openxmlformats.org/officeDocument/2006/relationships/image" Target="../media/image13.jpg" /><Relationship Id="rId10" Type="http://schemas.openxmlformats.org/officeDocument/2006/relationships/image" Target="../media/image7.png" /><Relationship Id="rId4" Type="http://schemas.openxmlformats.org/officeDocument/2006/relationships/image" Target="../media/image2.png" /><Relationship Id="rId9" Type="http://schemas.openxmlformats.org/officeDocument/2006/relationships/image" Target="../media/image6.png" /><Relationship Id="rId14" Type="http://schemas.openxmlformats.org/officeDocument/2006/relationships/image" Target="../media/image1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txBody>
            <a:bodyPr/>
            <a:lstStyle/>
            <a:p>
              <a:endParaRPr/>
            </a:p>
          </p:txBody>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txBody>
            <a:bodyPr/>
            <a:lstStyle/>
            <a:p>
              <a:endParaRPr/>
            </a:p>
          </p:txBody>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txBody>
            <a:bodyPr/>
            <a:lstStyle/>
            <a:p>
              <a:endParaRPr/>
            </a:p>
          </p:txBody>
        </p:sp>
      </p:grpSp>
      <p:graphicFrame>
        <p:nvGraphicFramePr>
          <p:cNvPr id="8" name="Table 8"/>
          <p:cNvGraphicFramePr>
            <a:graphicFrameLocks noGrp="1"/>
          </p:cNvGraphicFramePr>
          <p:nvPr/>
        </p:nvGraphicFramePr>
        <p:xfrm>
          <a:off x="3346832" y="1898294"/>
          <a:ext cx="5486400" cy="2580557"/>
        </p:xfrm>
        <a:graphic>
          <a:graphicData uri="http://schemas.openxmlformats.org/drawingml/2006/table">
            <a:tbl>
              <a:tblPr/>
              <a:tblGrid>
                <a:gridCol w="2271461">
                  <a:extLst>
                    <a:ext uri="{9D8B030D-6E8A-4147-A177-3AD203B41FA5}">
                      <a16:colId xmlns:a16="http://schemas.microsoft.com/office/drawing/2014/main" val="20000"/>
                    </a:ext>
                  </a:extLst>
                </a:gridCol>
                <a:gridCol w="3214939">
                  <a:extLst>
                    <a:ext uri="{9D8B030D-6E8A-4147-A177-3AD203B41FA5}">
                      <a16:colId xmlns:a16="http://schemas.microsoft.com/office/drawing/2014/main" val="20001"/>
                    </a:ext>
                  </a:extLst>
                </a:gridCol>
              </a:tblGrid>
              <a:tr h="487785">
                <a:tc>
                  <a:txBody>
                    <a:bodyPr/>
                    <a:lstStyle/>
                    <a:p>
                      <a:pPr algn="l">
                        <a:lnSpc>
                          <a:spcPts val="2879"/>
                        </a:lnSpc>
                        <a:defRPr/>
                      </a:pPr>
                      <a:r>
                        <a:rPr lang="en-US" sz="2400">
                          <a:solidFill>
                            <a:srgbClr val="3F3F3F"/>
                          </a:solidFill>
                          <a:latin typeface="Arial"/>
                          <a:ea typeface="Arial"/>
                          <a:cs typeface="Arial"/>
                          <a:sym typeface="Arial"/>
                        </a:rPr>
                        <a:t>Full Name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48974">
                <a:tc>
                  <a:txBody>
                    <a:bodyPr/>
                    <a:lstStyle/>
                    <a:p>
                      <a:pPr algn="l">
                        <a:lnSpc>
                          <a:spcPts val="2879"/>
                        </a:lnSpc>
                        <a:defRPr/>
                      </a:pPr>
                      <a:r>
                        <a:rPr lang="en-US" sz="2400">
                          <a:solidFill>
                            <a:srgbClr val="3F3F3F"/>
                          </a:solidFill>
                          <a:latin typeface="Arial"/>
                          <a:ea typeface="Arial"/>
                          <a:cs typeface="Arial"/>
                          <a:sym typeface="Arial"/>
                        </a:rPr>
                        <a:t>Organization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5024">
                <a:tc>
                  <a:txBody>
                    <a:bodyPr/>
                    <a:lstStyle/>
                    <a:p>
                      <a:pPr algn="l">
                        <a:lnSpc>
                          <a:spcPts val="2879"/>
                        </a:lnSpc>
                        <a:defRPr/>
                      </a:pPr>
                      <a:r>
                        <a:rPr lang="en-US" sz="2400">
                          <a:solidFill>
                            <a:srgbClr val="3F3F3F"/>
                          </a:solidFill>
                          <a:latin typeface="Arial"/>
                          <a:ea typeface="Arial"/>
                          <a:cs typeface="Arial"/>
                          <a:sym typeface="Arial"/>
                        </a:rPr>
                        <a:t>Age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35024">
                <a:tc>
                  <a:txBody>
                    <a:bodyPr/>
                    <a:lstStyle/>
                    <a:p>
                      <a:pPr algn="l">
                        <a:lnSpc>
                          <a:spcPts val="2879"/>
                        </a:lnSpc>
                        <a:defRPr/>
                      </a:pPr>
                      <a:r>
                        <a:rPr lang="en-US" sz="2400">
                          <a:solidFill>
                            <a:srgbClr val="3F3F3F"/>
                          </a:solidFill>
                          <a:latin typeface="Arial"/>
                          <a:ea typeface="Arial"/>
                          <a:cs typeface="Arial"/>
                          <a:sym typeface="Arial"/>
                        </a:rPr>
                        <a:t>Location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993">
                <a:tc>
                  <a:txBody>
                    <a:bodyPr/>
                    <a:lstStyle/>
                    <a:p>
                      <a:pPr algn="l">
                        <a:lnSpc>
                          <a:spcPts val="2879"/>
                        </a:lnSpc>
                        <a:defRPr/>
                      </a:pPr>
                      <a:r>
                        <a:rPr lang="en-US" sz="2400">
                          <a:solidFill>
                            <a:srgbClr val="3F3F3F"/>
                          </a:solidFill>
                          <a:latin typeface="Arial"/>
                          <a:ea typeface="Arial"/>
                          <a:cs typeface="Arial"/>
                          <a:sym typeface="Arial"/>
                        </a:rPr>
                        <a:t>Mother Tongue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grpSp>
        <p:nvGrpSpPr>
          <p:cNvPr id="9" name="Group 9"/>
          <p:cNvGrpSpPr/>
          <p:nvPr/>
        </p:nvGrpSpPr>
        <p:grpSpPr>
          <a:xfrm>
            <a:off x="844372" y="1898294"/>
            <a:ext cx="2502598" cy="2646388"/>
            <a:chOff x="0" y="0"/>
            <a:chExt cx="3336798" cy="3528517"/>
          </a:xfrm>
        </p:grpSpPr>
        <p:sp>
          <p:nvSpPr>
            <p:cNvPr id="10" name="Freeform 10"/>
            <p:cNvSpPr/>
            <p:nvPr/>
          </p:nvSpPr>
          <p:spPr>
            <a:xfrm>
              <a:off x="0" y="0"/>
              <a:ext cx="3336798" cy="3528568"/>
            </a:xfrm>
            <a:custGeom>
              <a:avLst/>
              <a:gdLst/>
              <a:ahLst/>
              <a:cxnLst/>
              <a:rect l="l" t="t" r="r" b="b"/>
              <a:pathLst>
                <a:path w="3336798" h="3528568">
                  <a:moveTo>
                    <a:pt x="0" y="0"/>
                  </a:moveTo>
                  <a:lnTo>
                    <a:pt x="3336798" y="0"/>
                  </a:lnTo>
                  <a:lnTo>
                    <a:pt x="3336798" y="3528568"/>
                  </a:lnTo>
                  <a:lnTo>
                    <a:pt x="0" y="3528568"/>
                  </a:lnTo>
                  <a:close/>
                </a:path>
              </a:pathLst>
            </a:custGeom>
            <a:solidFill>
              <a:srgbClr val="BFBFBF"/>
            </a:solidFill>
          </p:spPr>
          <p:txBody>
            <a:bodyPr/>
            <a:lstStyle/>
            <a:p>
              <a:endParaRPr/>
            </a:p>
          </p:txBody>
        </p:sp>
        <p:sp>
          <p:nvSpPr>
            <p:cNvPr id="11" name="TextBox 11"/>
            <p:cNvSpPr txBox="1"/>
            <p:nvPr/>
          </p:nvSpPr>
          <p:spPr>
            <a:xfrm>
              <a:off x="0" y="-38100"/>
              <a:ext cx="3336798" cy="3566617"/>
            </a:xfrm>
            <a:prstGeom prst="rect">
              <a:avLst/>
            </a:prstGeom>
          </p:spPr>
          <p:txBody>
            <a:bodyPr lIns="50800" tIns="50800" rIns="50800" bIns="50800" rtlCol="0" anchor="ctr"/>
            <a:lstStyle/>
            <a:p>
              <a:pPr algn="ctr">
                <a:lnSpc>
                  <a:spcPts val="2879"/>
                </a:lnSpc>
              </a:pPr>
              <a:r>
                <a:rPr lang="en-US" sz="2400" b="1">
                  <a:solidFill>
                    <a:srgbClr val="FFFFFF"/>
                  </a:solidFill>
                  <a:latin typeface="Calibri (MS) Bold"/>
                  <a:ea typeface="Calibri (MS) Bold"/>
                  <a:cs typeface="Calibri (MS) Bold"/>
                  <a:sym typeface="Calibri (MS) Bold"/>
                </a:rPr>
                <a:t>Photo </a:t>
              </a:r>
            </a:p>
          </p:txBody>
        </p:sp>
      </p:grpSp>
      <p:grpSp>
        <p:nvGrpSpPr>
          <p:cNvPr id="12" name="Group 12"/>
          <p:cNvGrpSpPr/>
          <p:nvPr/>
        </p:nvGrpSpPr>
        <p:grpSpPr>
          <a:xfrm>
            <a:off x="844372" y="4711456"/>
            <a:ext cx="8014802" cy="661197"/>
            <a:chOff x="0" y="0"/>
            <a:chExt cx="10686402" cy="881596"/>
          </a:xfrm>
        </p:grpSpPr>
        <p:sp>
          <p:nvSpPr>
            <p:cNvPr id="13" name="Freeform 13"/>
            <p:cNvSpPr/>
            <p:nvPr/>
          </p:nvSpPr>
          <p:spPr>
            <a:xfrm>
              <a:off x="0" y="0"/>
              <a:ext cx="10686415" cy="881634"/>
            </a:xfrm>
            <a:custGeom>
              <a:avLst/>
              <a:gdLst/>
              <a:ahLst/>
              <a:cxnLst/>
              <a:rect l="l" t="t" r="r" b="b"/>
              <a:pathLst>
                <a:path w="10686415" h="881634">
                  <a:moveTo>
                    <a:pt x="146939" y="0"/>
                  </a:moveTo>
                  <a:lnTo>
                    <a:pt x="10539476" y="0"/>
                  </a:lnTo>
                  <a:cubicBezTo>
                    <a:pt x="10620629" y="0"/>
                    <a:pt x="10686415" y="65786"/>
                    <a:pt x="10686415" y="146939"/>
                  </a:cubicBezTo>
                  <a:lnTo>
                    <a:pt x="10686415" y="881634"/>
                  </a:lnTo>
                  <a:lnTo>
                    <a:pt x="0" y="881634"/>
                  </a:lnTo>
                  <a:lnTo>
                    <a:pt x="0" y="146939"/>
                  </a:lnTo>
                  <a:cubicBezTo>
                    <a:pt x="0" y="65786"/>
                    <a:pt x="65786" y="0"/>
                    <a:pt x="146939" y="0"/>
                  </a:cubicBezTo>
                  <a:close/>
                </a:path>
              </a:pathLst>
            </a:custGeom>
            <a:solidFill>
              <a:srgbClr val="F4B083"/>
            </a:solidFill>
          </p:spPr>
          <p:txBody>
            <a:bodyPr/>
            <a:lstStyle/>
            <a:p>
              <a:endParaRPr/>
            </a:p>
          </p:txBody>
        </p:sp>
        <p:sp>
          <p:nvSpPr>
            <p:cNvPr id="14" name="TextBox 14"/>
            <p:cNvSpPr txBox="1"/>
            <p:nvPr/>
          </p:nvSpPr>
          <p:spPr>
            <a:xfrm>
              <a:off x="0" y="-57150"/>
              <a:ext cx="10686402" cy="938746"/>
            </a:xfrm>
            <a:prstGeom prst="rect">
              <a:avLst/>
            </a:prstGeom>
          </p:spPr>
          <p:txBody>
            <a:bodyPr lIns="50800" tIns="50800" rIns="50800" bIns="50800" rtlCol="0" anchor="ctr"/>
            <a:lstStyle/>
            <a:p>
              <a:pPr algn="l">
                <a:lnSpc>
                  <a:spcPts val="3840"/>
                </a:lnSpc>
              </a:pPr>
              <a:r>
                <a:rPr lang="en-US" sz="3200" b="1">
                  <a:solidFill>
                    <a:srgbClr val="44546A"/>
                  </a:solidFill>
                  <a:latin typeface="Calibri (MS) Bold"/>
                  <a:ea typeface="Calibri (MS) Bold"/>
                  <a:cs typeface="Calibri (MS) Bold"/>
                  <a:sym typeface="Calibri (MS) Bold"/>
                </a:rPr>
                <a:t>Mechanical Engineer </a:t>
              </a:r>
            </a:p>
          </p:txBody>
        </p:sp>
      </p:grpSp>
      <p:grpSp>
        <p:nvGrpSpPr>
          <p:cNvPr id="15" name="Group 15"/>
          <p:cNvGrpSpPr/>
          <p:nvPr/>
        </p:nvGrpSpPr>
        <p:grpSpPr>
          <a:xfrm>
            <a:off x="844391" y="1212885"/>
            <a:ext cx="8014802" cy="661197"/>
            <a:chOff x="0" y="0"/>
            <a:chExt cx="10686402" cy="881596"/>
          </a:xfrm>
        </p:grpSpPr>
        <p:sp>
          <p:nvSpPr>
            <p:cNvPr id="16" name="Freeform 16"/>
            <p:cNvSpPr/>
            <p:nvPr/>
          </p:nvSpPr>
          <p:spPr>
            <a:xfrm>
              <a:off x="0" y="0"/>
              <a:ext cx="10686415" cy="881634"/>
            </a:xfrm>
            <a:custGeom>
              <a:avLst/>
              <a:gdLst/>
              <a:ahLst/>
              <a:cxnLst/>
              <a:rect l="l" t="t" r="r" b="b"/>
              <a:pathLst>
                <a:path w="10686415" h="881634">
                  <a:moveTo>
                    <a:pt x="146939" y="0"/>
                  </a:moveTo>
                  <a:lnTo>
                    <a:pt x="10539476" y="0"/>
                  </a:lnTo>
                  <a:cubicBezTo>
                    <a:pt x="10620629" y="0"/>
                    <a:pt x="10686415" y="65786"/>
                    <a:pt x="10686415" y="146939"/>
                  </a:cubicBezTo>
                  <a:lnTo>
                    <a:pt x="10686415" y="881634"/>
                  </a:lnTo>
                  <a:lnTo>
                    <a:pt x="0" y="881634"/>
                  </a:lnTo>
                  <a:lnTo>
                    <a:pt x="0" y="146939"/>
                  </a:lnTo>
                  <a:cubicBezTo>
                    <a:pt x="0" y="65786"/>
                    <a:pt x="65786" y="0"/>
                    <a:pt x="146939" y="0"/>
                  </a:cubicBezTo>
                  <a:close/>
                </a:path>
              </a:pathLst>
            </a:custGeom>
            <a:solidFill>
              <a:srgbClr val="D5A6BD"/>
            </a:solidFill>
          </p:spPr>
          <p:txBody>
            <a:bodyPr/>
            <a:lstStyle/>
            <a:p>
              <a:endParaRPr/>
            </a:p>
          </p:txBody>
        </p:sp>
        <p:sp>
          <p:nvSpPr>
            <p:cNvPr id="17" name="TextBox 17"/>
            <p:cNvSpPr txBox="1"/>
            <p:nvPr/>
          </p:nvSpPr>
          <p:spPr>
            <a:xfrm>
              <a:off x="0" y="-57150"/>
              <a:ext cx="10686402" cy="938746"/>
            </a:xfrm>
            <a:prstGeom prst="rect">
              <a:avLst/>
            </a:prstGeom>
          </p:spPr>
          <p:txBody>
            <a:bodyPr lIns="50800" tIns="50800" rIns="50800" bIns="50800" rtlCol="0" anchor="ctr"/>
            <a:lstStyle/>
            <a:p>
              <a:pPr algn="l">
                <a:lnSpc>
                  <a:spcPts val="3840"/>
                </a:lnSpc>
              </a:pPr>
              <a:r>
                <a:rPr lang="en-US" sz="3200" b="1">
                  <a:solidFill>
                    <a:srgbClr val="44546A"/>
                  </a:solidFill>
                  <a:latin typeface="Calibri (MS) Bold"/>
                  <a:ea typeface="Calibri (MS) Bold"/>
                  <a:cs typeface="Calibri (MS) Bold"/>
                  <a:sym typeface="Calibri (MS) Bold"/>
                </a:rPr>
                <a:t>Biomedical Engineer </a:t>
              </a:r>
            </a:p>
          </p:txBody>
        </p:sp>
      </p:grpSp>
      <p:grpSp>
        <p:nvGrpSpPr>
          <p:cNvPr id="18" name="Group 18"/>
          <p:cNvGrpSpPr/>
          <p:nvPr/>
        </p:nvGrpSpPr>
        <p:grpSpPr>
          <a:xfrm>
            <a:off x="9456972" y="1212885"/>
            <a:ext cx="8014802" cy="661197"/>
            <a:chOff x="0" y="0"/>
            <a:chExt cx="10686402" cy="881596"/>
          </a:xfrm>
        </p:grpSpPr>
        <p:sp>
          <p:nvSpPr>
            <p:cNvPr id="19" name="Freeform 19"/>
            <p:cNvSpPr/>
            <p:nvPr/>
          </p:nvSpPr>
          <p:spPr>
            <a:xfrm>
              <a:off x="0" y="0"/>
              <a:ext cx="10686415" cy="881634"/>
            </a:xfrm>
            <a:custGeom>
              <a:avLst/>
              <a:gdLst/>
              <a:ahLst/>
              <a:cxnLst/>
              <a:rect l="l" t="t" r="r" b="b"/>
              <a:pathLst>
                <a:path w="10686415" h="881634">
                  <a:moveTo>
                    <a:pt x="146939" y="0"/>
                  </a:moveTo>
                  <a:lnTo>
                    <a:pt x="10539476" y="0"/>
                  </a:lnTo>
                  <a:cubicBezTo>
                    <a:pt x="10620629" y="0"/>
                    <a:pt x="10686415" y="65786"/>
                    <a:pt x="10686415" y="146939"/>
                  </a:cubicBezTo>
                  <a:lnTo>
                    <a:pt x="10686415" y="881634"/>
                  </a:lnTo>
                  <a:lnTo>
                    <a:pt x="0" y="881634"/>
                  </a:lnTo>
                  <a:lnTo>
                    <a:pt x="0" y="146939"/>
                  </a:lnTo>
                  <a:cubicBezTo>
                    <a:pt x="0" y="65786"/>
                    <a:pt x="65786" y="0"/>
                    <a:pt x="146939" y="0"/>
                  </a:cubicBezTo>
                  <a:close/>
                </a:path>
              </a:pathLst>
            </a:custGeom>
            <a:solidFill>
              <a:srgbClr val="9FC5E8"/>
            </a:solidFill>
          </p:spPr>
          <p:txBody>
            <a:bodyPr/>
            <a:lstStyle/>
            <a:p>
              <a:endParaRPr/>
            </a:p>
          </p:txBody>
        </p:sp>
        <p:sp>
          <p:nvSpPr>
            <p:cNvPr id="20" name="TextBox 20"/>
            <p:cNvSpPr txBox="1"/>
            <p:nvPr/>
          </p:nvSpPr>
          <p:spPr>
            <a:xfrm>
              <a:off x="0" y="-57150"/>
              <a:ext cx="10686402" cy="938746"/>
            </a:xfrm>
            <a:prstGeom prst="rect">
              <a:avLst/>
            </a:prstGeom>
          </p:spPr>
          <p:txBody>
            <a:bodyPr lIns="50800" tIns="50800" rIns="50800" bIns="50800" rtlCol="0" anchor="ctr"/>
            <a:lstStyle/>
            <a:p>
              <a:pPr algn="l">
                <a:lnSpc>
                  <a:spcPts val="3840"/>
                </a:lnSpc>
              </a:pPr>
              <a:r>
                <a:rPr lang="en-US" sz="3200" b="1">
                  <a:solidFill>
                    <a:srgbClr val="44546A"/>
                  </a:solidFill>
                  <a:latin typeface="Calibri (MS) Bold"/>
                  <a:ea typeface="Calibri (MS) Bold"/>
                  <a:cs typeface="Calibri (MS) Bold"/>
                  <a:sym typeface="Calibri (MS) Bold"/>
                </a:rPr>
                <a:t>Electronics Engineer </a:t>
              </a:r>
            </a:p>
          </p:txBody>
        </p:sp>
      </p:grpSp>
      <p:grpSp>
        <p:nvGrpSpPr>
          <p:cNvPr id="21" name="Group 21"/>
          <p:cNvGrpSpPr/>
          <p:nvPr/>
        </p:nvGrpSpPr>
        <p:grpSpPr>
          <a:xfrm>
            <a:off x="9503235" y="4711456"/>
            <a:ext cx="8014802" cy="661197"/>
            <a:chOff x="0" y="0"/>
            <a:chExt cx="10686402" cy="881596"/>
          </a:xfrm>
        </p:grpSpPr>
        <p:sp>
          <p:nvSpPr>
            <p:cNvPr id="22" name="Freeform 22"/>
            <p:cNvSpPr/>
            <p:nvPr/>
          </p:nvSpPr>
          <p:spPr>
            <a:xfrm>
              <a:off x="0" y="0"/>
              <a:ext cx="10686415" cy="881634"/>
            </a:xfrm>
            <a:custGeom>
              <a:avLst/>
              <a:gdLst/>
              <a:ahLst/>
              <a:cxnLst/>
              <a:rect l="l" t="t" r="r" b="b"/>
              <a:pathLst>
                <a:path w="10686415" h="881634">
                  <a:moveTo>
                    <a:pt x="146939" y="0"/>
                  </a:moveTo>
                  <a:lnTo>
                    <a:pt x="10539476" y="0"/>
                  </a:lnTo>
                  <a:cubicBezTo>
                    <a:pt x="10620629" y="0"/>
                    <a:pt x="10686415" y="65786"/>
                    <a:pt x="10686415" y="146939"/>
                  </a:cubicBezTo>
                  <a:lnTo>
                    <a:pt x="10686415" y="881634"/>
                  </a:lnTo>
                  <a:lnTo>
                    <a:pt x="0" y="881634"/>
                  </a:lnTo>
                  <a:lnTo>
                    <a:pt x="0" y="146939"/>
                  </a:lnTo>
                  <a:cubicBezTo>
                    <a:pt x="0" y="65786"/>
                    <a:pt x="65786" y="0"/>
                    <a:pt x="146939" y="0"/>
                  </a:cubicBezTo>
                  <a:close/>
                </a:path>
              </a:pathLst>
            </a:custGeom>
            <a:solidFill>
              <a:srgbClr val="FFD966"/>
            </a:solidFill>
          </p:spPr>
          <p:txBody>
            <a:bodyPr/>
            <a:lstStyle/>
            <a:p>
              <a:endParaRPr/>
            </a:p>
          </p:txBody>
        </p:sp>
        <p:sp>
          <p:nvSpPr>
            <p:cNvPr id="23" name="TextBox 23"/>
            <p:cNvSpPr txBox="1"/>
            <p:nvPr/>
          </p:nvSpPr>
          <p:spPr>
            <a:xfrm>
              <a:off x="0" y="-57150"/>
              <a:ext cx="10686402" cy="938746"/>
            </a:xfrm>
            <a:prstGeom prst="rect">
              <a:avLst/>
            </a:prstGeom>
          </p:spPr>
          <p:txBody>
            <a:bodyPr lIns="50800" tIns="50800" rIns="50800" bIns="50800" rtlCol="0" anchor="ctr"/>
            <a:lstStyle/>
            <a:p>
              <a:pPr algn="l">
                <a:lnSpc>
                  <a:spcPts val="3840"/>
                </a:lnSpc>
              </a:pPr>
              <a:r>
                <a:rPr lang="en-US" sz="3200" b="1">
                  <a:solidFill>
                    <a:srgbClr val="44546A"/>
                  </a:solidFill>
                  <a:latin typeface="Calibri (MS) Bold"/>
                  <a:ea typeface="Calibri (MS) Bold"/>
                  <a:cs typeface="Calibri (MS) Bold"/>
                  <a:sym typeface="Calibri (MS) Bold"/>
                </a:rPr>
                <a:t>Computer Engineer</a:t>
              </a:r>
            </a:p>
          </p:txBody>
        </p:sp>
      </p:grpSp>
      <p:grpSp>
        <p:nvGrpSpPr>
          <p:cNvPr id="24" name="Group 24"/>
          <p:cNvGrpSpPr/>
          <p:nvPr/>
        </p:nvGrpSpPr>
        <p:grpSpPr>
          <a:xfrm>
            <a:off x="795509" y="8081134"/>
            <a:ext cx="16696973" cy="766201"/>
            <a:chOff x="0" y="0"/>
            <a:chExt cx="22262630" cy="1021601"/>
          </a:xfrm>
        </p:grpSpPr>
        <p:sp>
          <p:nvSpPr>
            <p:cNvPr id="25" name="Freeform 25"/>
            <p:cNvSpPr/>
            <p:nvPr/>
          </p:nvSpPr>
          <p:spPr>
            <a:xfrm>
              <a:off x="0" y="0"/>
              <a:ext cx="22262720" cy="1021588"/>
            </a:xfrm>
            <a:custGeom>
              <a:avLst/>
              <a:gdLst/>
              <a:ahLst/>
              <a:cxnLst/>
              <a:rect l="l" t="t" r="r" b="b"/>
              <a:pathLst>
                <a:path w="22262720" h="1021588">
                  <a:moveTo>
                    <a:pt x="170307" y="0"/>
                  </a:moveTo>
                  <a:lnTo>
                    <a:pt x="22092413" y="0"/>
                  </a:lnTo>
                  <a:cubicBezTo>
                    <a:pt x="22186393" y="0"/>
                    <a:pt x="22262720" y="76200"/>
                    <a:pt x="22262720" y="170307"/>
                  </a:cubicBezTo>
                  <a:lnTo>
                    <a:pt x="22262720" y="1021588"/>
                  </a:lnTo>
                  <a:lnTo>
                    <a:pt x="0" y="1021588"/>
                  </a:lnTo>
                  <a:lnTo>
                    <a:pt x="0" y="170307"/>
                  </a:lnTo>
                  <a:cubicBezTo>
                    <a:pt x="0" y="76200"/>
                    <a:pt x="76200" y="0"/>
                    <a:pt x="170307" y="0"/>
                  </a:cubicBezTo>
                  <a:close/>
                </a:path>
              </a:pathLst>
            </a:custGeom>
            <a:solidFill>
              <a:srgbClr val="44546A"/>
            </a:solidFill>
          </p:spPr>
          <p:txBody>
            <a:bodyPr/>
            <a:lstStyle/>
            <a:p>
              <a:endParaRPr/>
            </a:p>
          </p:txBody>
        </p:sp>
        <p:sp>
          <p:nvSpPr>
            <p:cNvPr id="26" name="TextBox 26"/>
            <p:cNvSpPr txBox="1"/>
            <p:nvPr/>
          </p:nvSpPr>
          <p:spPr>
            <a:xfrm>
              <a:off x="0" y="-66675"/>
              <a:ext cx="22262630" cy="1088276"/>
            </a:xfrm>
            <a:prstGeom prst="rect">
              <a:avLst/>
            </a:prstGeom>
          </p:spPr>
          <p:txBody>
            <a:bodyPr lIns="50800" tIns="50800" rIns="50800" bIns="50800" rtlCol="0" anchor="ctr"/>
            <a:lstStyle/>
            <a:p>
              <a:pPr algn="l">
                <a:lnSpc>
                  <a:spcPts val="4079"/>
                </a:lnSpc>
              </a:pPr>
              <a:r>
                <a:rPr lang="en-US" sz="3399">
                  <a:solidFill>
                    <a:srgbClr val="FFE599"/>
                  </a:solidFill>
                  <a:latin typeface="Calibri (MS)"/>
                  <a:ea typeface="Calibri (MS)"/>
                  <a:cs typeface="Calibri (MS)"/>
                  <a:sym typeface="Calibri (MS)"/>
                </a:rPr>
                <a:t>  Project Title - </a:t>
              </a:r>
              <a:r>
                <a:rPr lang="en-US" sz="3399" b="1">
                  <a:solidFill>
                    <a:srgbClr val="FFFFFF"/>
                  </a:solidFill>
                  <a:latin typeface="Calibri (MS) Bold"/>
                  <a:ea typeface="Calibri (MS) Bold"/>
                  <a:cs typeface="Calibri (MS) Bold"/>
                  <a:sym typeface="Calibri (MS) Bold"/>
                </a:rPr>
                <a:t> </a:t>
              </a:r>
              <a:r>
                <a:rPr lang="en-US" sz="3399">
                  <a:solidFill>
                    <a:srgbClr val="FFFFFF"/>
                  </a:solidFill>
                  <a:latin typeface="Calibri (MS)"/>
                  <a:ea typeface="Calibri (MS)"/>
                  <a:cs typeface="Calibri (MS)"/>
                  <a:sym typeface="Calibri (MS)"/>
                </a:rPr>
                <a:t>“</a:t>
              </a:r>
              <a:r>
                <a:rPr lang="en-US" sz="3399" i="1">
                  <a:solidFill>
                    <a:srgbClr val="FFFFFF"/>
                  </a:solidFill>
                  <a:latin typeface="Calibri (MS) Italics"/>
                  <a:ea typeface="Calibri (MS) Italics"/>
                  <a:cs typeface="Calibri (MS) Italics"/>
                  <a:sym typeface="Calibri (MS) Italics"/>
                </a:rPr>
                <a:t>Non-Invasive Jaundice Screening Probe Prototype</a:t>
              </a:r>
              <a:r>
                <a:rPr lang="en-US" sz="3399">
                  <a:solidFill>
                    <a:srgbClr val="FFFFFF"/>
                  </a:solidFill>
                  <a:latin typeface="Calibri (MS)"/>
                  <a:ea typeface="Calibri (MS)"/>
                  <a:cs typeface="Calibri (MS)"/>
                  <a:sym typeface="Calibri (MS)"/>
                </a:rPr>
                <a:t>”</a:t>
              </a:r>
            </a:p>
          </p:txBody>
        </p:sp>
      </p:grpSp>
      <p:grpSp>
        <p:nvGrpSpPr>
          <p:cNvPr id="27" name="Group 27"/>
          <p:cNvGrpSpPr/>
          <p:nvPr/>
        </p:nvGrpSpPr>
        <p:grpSpPr>
          <a:xfrm>
            <a:off x="17330528" y="21374"/>
            <a:ext cx="815997" cy="886196"/>
            <a:chOff x="0" y="0"/>
            <a:chExt cx="1087996" cy="1181595"/>
          </a:xfrm>
        </p:grpSpPr>
        <p:sp>
          <p:nvSpPr>
            <p:cNvPr id="28" name="Freeform 28"/>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txBody>
            <a:bodyPr/>
            <a:lstStyle/>
            <a:p>
              <a:endParaRPr/>
            </a:p>
          </p:txBody>
        </p:sp>
      </p:grpSp>
      <p:grpSp>
        <p:nvGrpSpPr>
          <p:cNvPr id="29" name="Group 29"/>
          <p:cNvGrpSpPr/>
          <p:nvPr/>
        </p:nvGrpSpPr>
        <p:grpSpPr>
          <a:xfrm>
            <a:off x="1220724" y="15364"/>
            <a:ext cx="9651463" cy="1004402"/>
            <a:chOff x="0" y="0"/>
            <a:chExt cx="12868618" cy="1339202"/>
          </a:xfrm>
        </p:grpSpPr>
        <p:sp>
          <p:nvSpPr>
            <p:cNvPr id="30" name="Freeform 30"/>
            <p:cNvSpPr/>
            <p:nvPr/>
          </p:nvSpPr>
          <p:spPr>
            <a:xfrm>
              <a:off x="0" y="0"/>
              <a:ext cx="12868616" cy="1339200"/>
            </a:xfrm>
            <a:custGeom>
              <a:avLst/>
              <a:gdLst/>
              <a:ahLst/>
              <a:cxnLst/>
              <a:rect l="l" t="t" r="r" b="b"/>
              <a:pathLst>
                <a:path w="12868616" h="1339200">
                  <a:moveTo>
                    <a:pt x="0" y="0"/>
                  </a:moveTo>
                  <a:lnTo>
                    <a:pt x="12868616" y="0"/>
                  </a:lnTo>
                  <a:lnTo>
                    <a:pt x="12868616" y="1339200"/>
                  </a:lnTo>
                  <a:lnTo>
                    <a:pt x="0" y="1339200"/>
                  </a:lnTo>
                  <a:close/>
                </a:path>
              </a:pathLst>
            </a:custGeom>
            <a:blipFill>
              <a:blip r:embed="rId5">
                <a:alphaModFix amt="0"/>
              </a:blip>
              <a:stretch>
                <a:fillRect t="-137235" b="-137235"/>
              </a:stretch>
            </a:blipFill>
          </p:spPr>
          <p:txBody>
            <a:bodyPr/>
            <a:lstStyle/>
            <a:p>
              <a:endParaRPr/>
            </a:p>
          </p:txBody>
        </p:sp>
        <p:sp>
          <p:nvSpPr>
            <p:cNvPr id="31" name="TextBox 31"/>
            <p:cNvSpPr txBox="1"/>
            <p:nvPr/>
          </p:nvSpPr>
          <p:spPr>
            <a:xfrm>
              <a:off x="0" y="-85725"/>
              <a:ext cx="1286861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Project Team Formation</a:t>
              </a:r>
            </a:p>
          </p:txBody>
        </p:sp>
      </p:grpSp>
      <p:grpSp>
        <p:nvGrpSpPr>
          <p:cNvPr id="32" name="Group 32"/>
          <p:cNvGrpSpPr/>
          <p:nvPr/>
        </p:nvGrpSpPr>
        <p:grpSpPr>
          <a:xfrm>
            <a:off x="14807355" y="4048"/>
            <a:ext cx="2945997" cy="1000201"/>
            <a:chOff x="0" y="0"/>
            <a:chExt cx="3927996" cy="1333602"/>
          </a:xfrm>
        </p:grpSpPr>
        <p:sp>
          <p:nvSpPr>
            <p:cNvPr id="33" name="Freeform 33"/>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txBody>
            <a:bodyPr/>
            <a:lstStyle/>
            <a:p>
              <a:endParaRPr/>
            </a:p>
          </p:txBody>
        </p:sp>
        <p:sp>
          <p:nvSpPr>
            <p:cNvPr id="34" name="TextBox 34"/>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aphicFrame>
        <p:nvGraphicFramePr>
          <p:cNvPr id="35" name="Table 35"/>
          <p:cNvGraphicFramePr>
            <a:graphicFrameLocks noGrp="1"/>
          </p:cNvGraphicFramePr>
          <p:nvPr/>
        </p:nvGraphicFramePr>
        <p:xfrm>
          <a:off x="11959576" y="1919182"/>
          <a:ext cx="5486400" cy="2580557"/>
        </p:xfrm>
        <a:graphic>
          <a:graphicData uri="http://schemas.openxmlformats.org/drawingml/2006/table">
            <a:tbl>
              <a:tblPr/>
              <a:tblGrid>
                <a:gridCol w="2271461">
                  <a:extLst>
                    <a:ext uri="{9D8B030D-6E8A-4147-A177-3AD203B41FA5}">
                      <a16:colId xmlns:a16="http://schemas.microsoft.com/office/drawing/2014/main" val="20000"/>
                    </a:ext>
                  </a:extLst>
                </a:gridCol>
                <a:gridCol w="3214939">
                  <a:extLst>
                    <a:ext uri="{9D8B030D-6E8A-4147-A177-3AD203B41FA5}">
                      <a16:colId xmlns:a16="http://schemas.microsoft.com/office/drawing/2014/main" val="20001"/>
                    </a:ext>
                  </a:extLst>
                </a:gridCol>
              </a:tblGrid>
              <a:tr h="487785">
                <a:tc>
                  <a:txBody>
                    <a:bodyPr/>
                    <a:lstStyle/>
                    <a:p>
                      <a:pPr algn="l">
                        <a:lnSpc>
                          <a:spcPts val="2879"/>
                        </a:lnSpc>
                        <a:defRPr/>
                      </a:pPr>
                      <a:r>
                        <a:rPr lang="en-US" sz="2400">
                          <a:solidFill>
                            <a:srgbClr val="3F3F3F"/>
                          </a:solidFill>
                          <a:latin typeface="Arial"/>
                          <a:ea typeface="Arial"/>
                          <a:cs typeface="Arial"/>
                          <a:sym typeface="Arial"/>
                        </a:rPr>
                        <a:t>Full Name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48974">
                <a:tc>
                  <a:txBody>
                    <a:bodyPr/>
                    <a:lstStyle/>
                    <a:p>
                      <a:pPr algn="l">
                        <a:lnSpc>
                          <a:spcPts val="2879"/>
                        </a:lnSpc>
                        <a:defRPr/>
                      </a:pPr>
                      <a:r>
                        <a:rPr lang="en-US" sz="2400">
                          <a:solidFill>
                            <a:srgbClr val="3F3F3F"/>
                          </a:solidFill>
                          <a:latin typeface="Arial"/>
                          <a:ea typeface="Arial"/>
                          <a:cs typeface="Arial"/>
                          <a:sym typeface="Arial"/>
                        </a:rPr>
                        <a:t>Organization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5024">
                <a:tc>
                  <a:txBody>
                    <a:bodyPr/>
                    <a:lstStyle/>
                    <a:p>
                      <a:pPr algn="l">
                        <a:lnSpc>
                          <a:spcPts val="2879"/>
                        </a:lnSpc>
                        <a:defRPr/>
                      </a:pPr>
                      <a:r>
                        <a:rPr lang="en-US" sz="2400">
                          <a:solidFill>
                            <a:srgbClr val="3F3F3F"/>
                          </a:solidFill>
                          <a:latin typeface="Arial"/>
                          <a:ea typeface="Arial"/>
                          <a:cs typeface="Arial"/>
                          <a:sym typeface="Arial"/>
                        </a:rPr>
                        <a:t>Age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35024">
                <a:tc>
                  <a:txBody>
                    <a:bodyPr/>
                    <a:lstStyle/>
                    <a:p>
                      <a:pPr algn="l">
                        <a:lnSpc>
                          <a:spcPts val="2879"/>
                        </a:lnSpc>
                        <a:defRPr/>
                      </a:pPr>
                      <a:r>
                        <a:rPr lang="en-US" sz="2400">
                          <a:solidFill>
                            <a:srgbClr val="3F3F3F"/>
                          </a:solidFill>
                          <a:latin typeface="Arial"/>
                          <a:ea typeface="Arial"/>
                          <a:cs typeface="Arial"/>
                          <a:sym typeface="Arial"/>
                        </a:rPr>
                        <a:t>Location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993">
                <a:tc>
                  <a:txBody>
                    <a:bodyPr/>
                    <a:lstStyle/>
                    <a:p>
                      <a:pPr algn="l">
                        <a:lnSpc>
                          <a:spcPts val="2879"/>
                        </a:lnSpc>
                        <a:defRPr/>
                      </a:pPr>
                      <a:r>
                        <a:rPr lang="en-US" sz="2400">
                          <a:solidFill>
                            <a:srgbClr val="3F3F3F"/>
                          </a:solidFill>
                          <a:latin typeface="Arial"/>
                          <a:ea typeface="Arial"/>
                          <a:cs typeface="Arial"/>
                          <a:sym typeface="Arial"/>
                        </a:rPr>
                        <a:t>Mother Tongue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grpSp>
        <p:nvGrpSpPr>
          <p:cNvPr id="36" name="Group 36"/>
          <p:cNvGrpSpPr/>
          <p:nvPr/>
        </p:nvGrpSpPr>
        <p:grpSpPr>
          <a:xfrm>
            <a:off x="9456972" y="1919183"/>
            <a:ext cx="2502598" cy="2646388"/>
            <a:chOff x="0" y="0"/>
            <a:chExt cx="3336798" cy="3528517"/>
          </a:xfrm>
        </p:grpSpPr>
        <p:sp>
          <p:nvSpPr>
            <p:cNvPr id="37" name="Freeform 37"/>
            <p:cNvSpPr/>
            <p:nvPr/>
          </p:nvSpPr>
          <p:spPr>
            <a:xfrm>
              <a:off x="0" y="0"/>
              <a:ext cx="3336798" cy="3528568"/>
            </a:xfrm>
            <a:custGeom>
              <a:avLst/>
              <a:gdLst/>
              <a:ahLst/>
              <a:cxnLst/>
              <a:rect l="l" t="t" r="r" b="b"/>
              <a:pathLst>
                <a:path w="3336798" h="3528568">
                  <a:moveTo>
                    <a:pt x="0" y="0"/>
                  </a:moveTo>
                  <a:lnTo>
                    <a:pt x="3336798" y="0"/>
                  </a:lnTo>
                  <a:lnTo>
                    <a:pt x="3336798" y="3528568"/>
                  </a:lnTo>
                  <a:lnTo>
                    <a:pt x="0" y="3528568"/>
                  </a:lnTo>
                  <a:close/>
                </a:path>
              </a:pathLst>
            </a:custGeom>
            <a:solidFill>
              <a:srgbClr val="BFBFBF"/>
            </a:solidFill>
          </p:spPr>
          <p:txBody>
            <a:bodyPr/>
            <a:lstStyle/>
            <a:p>
              <a:endParaRPr/>
            </a:p>
          </p:txBody>
        </p:sp>
        <p:sp>
          <p:nvSpPr>
            <p:cNvPr id="38" name="TextBox 38"/>
            <p:cNvSpPr txBox="1"/>
            <p:nvPr/>
          </p:nvSpPr>
          <p:spPr>
            <a:xfrm>
              <a:off x="0" y="-38100"/>
              <a:ext cx="3336798" cy="3566617"/>
            </a:xfrm>
            <a:prstGeom prst="rect">
              <a:avLst/>
            </a:prstGeom>
          </p:spPr>
          <p:txBody>
            <a:bodyPr lIns="50800" tIns="50800" rIns="50800" bIns="50800" rtlCol="0" anchor="ctr"/>
            <a:lstStyle/>
            <a:p>
              <a:pPr algn="ctr">
                <a:lnSpc>
                  <a:spcPts val="2879"/>
                </a:lnSpc>
              </a:pPr>
              <a:r>
                <a:rPr lang="en-US" sz="2400" b="1">
                  <a:solidFill>
                    <a:srgbClr val="FFFFFF"/>
                  </a:solidFill>
                  <a:latin typeface="Calibri (MS) Bold"/>
                  <a:ea typeface="Calibri (MS) Bold"/>
                  <a:cs typeface="Calibri (MS) Bold"/>
                  <a:sym typeface="Calibri (MS) Bold"/>
                </a:rPr>
                <a:t>Photo </a:t>
              </a:r>
            </a:p>
          </p:txBody>
        </p:sp>
      </p:grpSp>
      <p:graphicFrame>
        <p:nvGraphicFramePr>
          <p:cNvPr id="39" name="Table 39"/>
          <p:cNvGraphicFramePr>
            <a:graphicFrameLocks noGrp="1"/>
          </p:cNvGraphicFramePr>
          <p:nvPr/>
        </p:nvGraphicFramePr>
        <p:xfrm>
          <a:off x="3365346" y="5413854"/>
          <a:ext cx="5486400" cy="2580557"/>
        </p:xfrm>
        <a:graphic>
          <a:graphicData uri="http://schemas.openxmlformats.org/drawingml/2006/table">
            <a:tbl>
              <a:tblPr/>
              <a:tblGrid>
                <a:gridCol w="2271461">
                  <a:extLst>
                    <a:ext uri="{9D8B030D-6E8A-4147-A177-3AD203B41FA5}">
                      <a16:colId xmlns:a16="http://schemas.microsoft.com/office/drawing/2014/main" val="20000"/>
                    </a:ext>
                  </a:extLst>
                </a:gridCol>
                <a:gridCol w="3214939">
                  <a:extLst>
                    <a:ext uri="{9D8B030D-6E8A-4147-A177-3AD203B41FA5}">
                      <a16:colId xmlns:a16="http://schemas.microsoft.com/office/drawing/2014/main" val="20001"/>
                    </a:ext>
                  </a:extLst>
                </a:gridCol>
              </a:tblGrid>
              <a:tr h="487785">
                <a:tc>
                  <a:txBody>
                    <a:bodyPr/>
                    <a:lstStyle/>
                    <a:p>
                      <a:pPr algn="l">
                        <a:lnSpc>
                          <a:spcPts val="2879"/>
                        </a:lnSpc>
                        <a:defRPr/>
                      </a:pPr>
                      <a:r>
                        <a:rPr lang="en-US" sz="2400">
                          <a:solidFill>
                            <a:srgbClr val="3F3F3F"/>
                          </a:solidFill>
                          <a:latin typeface="Arial"/>
                          <a:ea typeface="Arial"/>
                          <a:cs typeface="Arial"/>
                          <a:sym typeface="Arial"/>
                        </a:rPr>
                        <a:t>Full Name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48974">
                <a:tc>
                  <a:txBody>
                    <a:bodyPr/>
                    <a:lstStyle/>
                    <a:p>
                      <a:pPr algn="l">
                        <a:lnSpc>
                          <a:spcPts val="2879"/>
                        </a:lnSpc>
                        <a:defRPr/>
                      </a:pPr>
                      <a:r>
                        <a:rPr lang="en-US" sz="2400">
                          <a:solidFill>
                            <a:srgbClr val="3F3F3F"/>
                          </a:solidFill>
                          <a:latin typeface="Arial"/>
                          <a:ea typeface="Arial"/>
                          <a:cs typeface="Arial"/>
                          <a:sym typeface="Arial"/>
                        </a:rPr>
                        <a:t>Organization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5024">
                <a:tc>
                  <a:txBody>
                    <a:bodyPr/>
                    <a:lstStyle/>
                    <a:p>
                      <a:pPr algn="l">
                        <a:lnSpc>
                          <a:spcPts val="2879"/>
                        </a:lnSpc>
                        <a:defRPr/>
                      </a:pPr>
                      <a:r>
                        <a:rPr lang="en-US" sz="2400">
                          <a:solidFill>
                            <a:srgbClr val="3F3F3F"/>
                          </a:solidFill>
                          <a:latin typeface="Arial"/>
                          <a:ea typeface="Arial"/>
                          <a:cs typeface="Arial"/>
                          <a:sym typeface="Arial"/>
                        </a:rPr>
                        <a:t>Age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35024">
                <a:tc>
                  <a:txBody>
                    <a:bodyPr/>
                    <a:lstStyle/>
                    <a:p>
                      <a:pPr algn="l">
                        <a:lnSpc>
                          <a:spcPts val="2879"/>
                        </a:lnSpc>
                        <a:defRPr/>
                      </a:pPr>
                      <a:r>
                        <a:rPr lang="en-US" sz="2400">
                          <a:solidFill>
                            <a:srgbClr val="3F3F3F"/>
                          </a:solidFill>
                          <a:latin typeface="Arial"/>
                          <a:ea typeface="Arial"/>
                          <a:cs typeface="Arial"/>
                          <a:sym typeface="Arial"/>
                        </a:rPr>
                        <a:t>Location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993">
                <a:tc>
                  <a:txBody>
                    <a:bodyPr/>
                    <a:lstStyle/>
                    <a:p>
                      <a:pPr algn="l">
                        <a:lnSpc>
                          <a:spcPts val="2879"/>
                        </a:lnSpc>
                        <a:defRPr/>
                      </a:pPr>
                      <a:r>
                        <a:rPr lang="en-US" sz="2400">
                          <a:solidFill>
                            <a:srgbClr val="3F3F3F"/>
                          </a:solidFill>
                          <a:latin typeface="Arial"/>
                          <a:ea typeface="Arial"/>
                          <a:cs typeface="Arial"/>
                          <a:sym typeface="Arial"/>
                        </a:rPr>
                        <a:t>Mother Tongue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grpSp>
        <p:nvGrpSpPr>
          <p:cNvPr id="40" name="Group 40"/>
          <p:cNvGrpSpPr/>
          <p:nvPr/>
        </p:nvGrpSpPr>
        <p:grpSpPr>
          <a:xfrm>
            <a:off x="862889" y="5413858"/>
            <a:ext cx="2502598" cy="2646388"/>
            <a:chOff x="0" y="0"/>
            <a:chExt cx="3336798" cy="3528517"/>
          </a:xfrm>
        </p:grpSpPr>
        <p:sp>
          <p:nvSpPr>
            <p:cNvPr id="41" name="Freeform 41"/>
            <p:cNvSpPr/>
            <p:nvPr/>
          </p:nvSpPr>
          <p:spPr>
            <a:xfrm>
              <a:off x="0" y="0"/>
              <a:ext cx="3336798" cy="3528568"/>
            </a:xfrm>
            <a:custGeom>
              <a:avLst/>
              <a:gdLst/>
              <a:ahLst/>
              <a:cxnLst/>
              <a:rect l="l" t="t" r="r" b="b"/>
              <a:pathLst>
                <a:path w="3336798" h="3528568">
                  <a:moveTo>
                    <a:pt x="0" y="0"/>
                  </a:moveTo>
                  <a:lnTo>
                    <a:pt x="3336798" y="0"/>
                  </a:lnTo>
                  <a:lnTo>
                    <a:pt x="3336798" y="3528568"/>
                  </a:lnTo>
                  <a:lnTo>
                    <a:pt x="0" y="3528568"/>
                  </a:lnTo>
                  <a:close/>
                </a:path>
              </a:pathLst>
            </a:custGeom>
            <a:solidFill>
              <a:srgbClr val="BFBFBF"/>
            </a:solidFill>
          </p:spPr>
          <p:txBody>
            <a:bodyPr/>
            <a:lstStyle/>
            <a:p>
              <a:endParaRPr/>
            </a:p>
          </p:txBody>
        </p:sp>
        <p:sp>
          <p:nvSpPr>
            <p:cNvPr id="42" name="TextBox 42"/>
            <p:cNvSpPr txBox="1"/>
            <p:nvPr/>
          </p:nvSpPr>
          <p:spPr>
            <a:xfrm>
              <a:off x="0" y="-38100"/>
              <a:ext cx="3336798" cy="3566617"/>
            </a:xfrm>
            <a:prstGeom prst="rect">
              <a:avLst/>
            </a:prstGeom>
          </p:spPr>
          <p:txBody>
            <a:bodyPr lIns="50800" tIns="50800" rIns="50800" bIns="50800" rtlCol="0" anchor="ctr"/>
            <a:lstStyle/>
            <a:p>
              <a:pPr algn="ctr">
                <a:lnSpc>
                  <a:spcPts val="2879"/>
                </a:lnSpc>
              </a:pPr>
              <a:r>
                <a:rPr lang="en-US" sz="2400" b="1">
                  <a:solidFill>
                    <a:srgbClr val="FFFFFF"/>
                  </a:solidFill>
                  <a:latin typeface="Calibri (MS) Bold"/>
                  <a:ea typeface="Calibri (MS) Bold"/>
                  <a:cs typeface="Calibri (MS) Bold"/>
                  <a:sym typeface="Calibri (MS) Bold"/>
                </a:rPr>
                <a:t>Photo </a:t>
              </a:r>
            </a:p>
          </p:txBody>
        </p:sp>
      </p:grpSp>
      <p:graphicFrame>
        <p:nvGraphicFramePr>
          <p:cNvPr id="43" name="Table 43"/>
          <p:cNvGraphicFramePr>
            <a:graphicFrameLocks noGrp="1"/>
          </p:cNvGraphicFramePr>
          <p:nvPr/>
        </p:nvGraphicFramePr>
        <p:xfrm>
          <a:off x="11978090" y="5434742"/>
          <a:ext cx="5486400" cy="2580557"/>
        </p:xfrm>
        <a:graphic>
          <a:graphicData uri="http://schemas.openxmlformats.org/drawingml/2006/table">
            <a:tbl>
              <a:tblPr/>
              <a:tblGrid>
                <a:gridCol w="2271461">
                  <a:extLst>
                    <a:ext uri="{9D8B030D-6E8A-4147-A177-3AD203B41FA5}">
                      <a16:colId xmlns:a16="http://schemas.microsoft.com/office/drawing/2014/main" val="20000"/>
                    </a:ext>
                  </a:extLst>
                </a:gridCol>
                <a:gridCol w="3214939">
                  <a:extLst>
                    <a:ext uri="{9D8B030D-6E8A-4147-A177-3AD203B41FA5}">
                      <a16:colId xmlns:a16="http://schemas.microsoft.com/office/drawing/2014/main" val="20001"/>
                    </a:ext>
                  </a:extLst>
                </a:gridCol>
              </a:tblGrid>
              <a:tr h="487785">
                <a:tc>
                  <a:txBody>
                    <a:bodyPr/>
                    <a:lstStyle/>
                    <a:p>
                      <a:pPr algn="l">
                        <a:lnSpc>
                          <a:spcPts val="2879"/>
                        </a:lnSpc>
                        <a:defRPr/>
                      </a:pPr>
                      <a:r>
                        <a:rPr lang="en-US" sz="2400">
                          <a:solidFill>
                            <a:srgbClr val="3F3F3F"/>
                          </a:solidFill>
                          <a:latin typeface="Arial"/>
                          <a:ea typeface="Arial"/>
                          <a:cs typeface="Arial"/>
                          <a:sym typeface="Arial"/>
                        </a:rPr>
                        <a:t>Full Name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48974">
                <a:tc>
                  <a:txBody>
                    <a:bodyPr/>
                    <a:lstStyle/>
                    <a:p>
                      <a:pPr algn="l">
                        <a:lnSpc>
                          <a:spcPts val="2879"/>
                        </a:lnSpc>
                        <a:defRPr/>
                      </a:pPr>
                      <a:r>
                        <a:rPr lang="en-US" sz="2400">
                          <a:solidFill>
                            <a:srgbClr val="3F3F3F"/>
                          </a:solidFill>
                          <a:latin typeface="Arial"/>
                          <a:ea typeface="Arial"/>
                          <a:cs typeface="Arial"/>
                          <a:sym typeface="Arial"/>
                        </a:rPr>
                        <a:t>Organization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5024">
                <a:tc>
                  <a:txBody>
                    <a:bodyPr/>
                    <a:lstStyle/>
                    <a:p>
                      <a:pPr algn="l">
                        <a:lnSpc>
                          <a:spcPts val="2879"/>
                        </a:lnSpc>
                        <a:defRPr/>
                      </a:pPr>
                      <a:r>
                        <a:rPr lang="en-US" sz="2400">
                          <a:solidFill>
                            <a:srgbClr val="3F3F3F"/>
                          </a:solidFill>
                          <a:latin typeface="Arial"/>
                          <a:ea typeface="Arial"/>
                          <a:cs typeface="Arial"/>
                          <a:sym typeface="Arial"/>
                        </a:rPr>
                        <a:t>Age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35024">
                <a:tc>
                  <a:txBody>
                    <a:bodyPr/>
                    <a:lstStyle/>
                    <a:p>
                      <a:pPr algn="l">
                        <a:lnSpc>
                          <a:spcPts val="2879"/>
                        </a:lnSpc>
                        <a:defRPr/>
                      </a:pPr>
                      <a:r>
                        <a:rPr lang="en-US" sz="2400">
                          <a:solidFill>
                            <a:srgbClr val="3F3F3F"/>
                          </a:solidFill>
                          <a:latin typeface="Arial"/>
                          <a:ea typeface="Arial"/>
                          <a:cs typeface="Arial"/>
                          <a:sym typeface="Arial"/>
                        </a:rPr>
                        <a:t>Location </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993">
                <a:tc>
                  <a:txBody>
                    <a:bodyPr/>
                    <a:lstStyle/>
                    <a:p>
                      <a:pPr algn="l">
                        <a:lnSpc>
                          <a:spcPts val="2879"/>
                        </a:lnSpc>
                        <a:defRPr/>
                      </a:pPr>
                      <a:r>
                        <a:rPr lang="en-US" sz="2400">
                          <a:solidFill>
                            <a:srgbClr val="3F3F3F"/>
                          </a:solidFill>
                          <a:latin typeface="Arial"/>
                          <a:ea typeface="Arial"/>
                          <a:cs typeface="Arial"/>
                          <a:sym typeface="Arial"/>
                        </a:rPr>
                        <a:t>Mother Tongue</a:t>
                      </a: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8D8D8"/>
                    </a:solidFill>
                  </a:tcPr>
                </a:tc>
                <a:tc>
                  <a:txBody>
                    <a:bodyPr/>
                    <a:lstStyle/>
                    <a:p>
                      <a:pPr algn="l">
                        <a:lnSpc>
                          <a:spcPts val="1679"/>
                        </a:lnSpc>
                        <a:defRPr/>
                      </a:pPr>
                      <a:endParaRPr lang="en-US" sz="1100"/>
                    </a:p>
                  </a:txBody>
                  <a:tcPr marL="68600" marR="68600" marT="68600" marB="686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grpSp>
        <p:nvGrpSpPr>
          <p:cNvPr id="44" name="Group 44"/>
          <p:cNvGrpSpPr/>
          <p:nvPr/>
        </p:nvGrpSpPr>
        <p:grpSpPr>
          <a:xfrm>
            <a:off x="9475489" y="5434746"/>
            <a:ext cx="2502598" cy="2646388"/>
            <a:chOff x="0" y="0"/>
            <a:chExt cx="3336798" cy="3528517"/>
          </a:xfrm>
        </p:grpSpPr>
        <p:sp>
          <p:nvSpPr>
            <p:cNvPr id="45" name="Freeform 45"/>
            <p:cNvSpPr/>
            <p:nvPr/>
          </p:nvSpPr>
          <p:spPr>
            <a:xfrm>
              <a:off x="0" y="0"/>
              <a:ext cx="3336798" cy="3528568"/>
            </a:xfrm>
            <a:custGeom>
              <a:avLst/>
              <a:gdLst/>
              <a:ahLst/>
              <a:cxnLst/>
              <a:rect l="l" t="t" r="r" b="b"/>
              <a:pathLst>
                <a:path w="3336798" h="3528568">
                  <a:moveTo>
                    <a:pt x="0" y="0"/>
                  </a:moveTo>
                  <a:lnTo>
                    <a:pt x="3336798" y="0"/>
                  </a:lnTo>
                  <a:lnTo>
                    <a:pt x="3336798" y="3528568"/>
                  </a:lnTo>
                  <a:lnTo>
                    <a:pt x="0" y="3528568"/>
                  </a:lnTo>
                  <a:close/>
                </a:path>
              </a:pathLst>
            </a:custGeom>
            <a:solidFill>
              <a:srgbClr val="BFBFBF"/>
            </a:solidFill>
          </p:spPr>
          <p:txBody>
            <a:bodyPr/>
            <a:lstStyle/>
            <a:p>
              <a:endParaRPr/>
            </a:p>
          </p:txBody>
        </p:sp>
        <p:sp>
          <p:nvSpPr>
            <p:cNvPr id="46" name="TextBox 46"/>
            <p:cNvSpPr txBox="1"/>
            <p:nvPr/>
          </p:nvSpPr>
          <p:spPr>
            <a:xfrm>
              <a:off x="0" y="-38100"/>
              <a:ext cx="3336798" cy="3566617"/>
            </a:xfrm>
            <a:prstGeom prst="rect">
              <a:avLst/>
            </a:prstGeom>
          </p:spPr>
          <p:txBody>
            <a:bodyPr lIns="50800" tIns="50800" rIns="50800" bIns="50800" rtlCol="0" anchor="ctr"/>
            <a:lstStyle/>
            <a:p>
              <a:pPr algn="ctr">
                <a:lnSpc>
                  <a:spcPts val="2879"/>
                </a:lnSpc>
              </a:pPr>
              <a:r>
                <a:rPr lang="en-US" sz="2400" b="1">
                  <a:solidFill>
                    <a:srgbClr val="FFFFFF"/>
                  </a:solidFill>
                  <a:latin typeface="Calibri (MS) Bold"/>
                  <a:ea typeface="Calibri (MS) Bold"/>
                  <a:cs typeface="Calibri (MS) Bold"/>
                  <a:sym typeface="Calibri (MS) Bold"/>
                </a:rPr>
                <a:t>Photo </a:t>
              </a:r>
            </a:p>
          </p:txBody>
        </p:sp>
      </p:grpSp>
      <p:grpSp>
        <p:nvGrpSpPr>
          <p:cNvPr id="47" name="Group 47"/>
          <p:cNvGrpSpPr/>
          <p:nvPr/>
        </p:nvGrpSpPr>
        <p:grpSpPr>
          <a:xfrm>
            <a:off x="355185" y="9014381"/>
            <a:ext cx="17654292" cy="1633747"/>
            <a:chOff x="0" y="0"/>
            <a:chExt cx="23539056" cy="2178329"/>
          </a:xfrm>
        </p:grpSpPr>
        <p:sp>
          <p:nvSpPr>
            <p:cNvPr id="48" name="Freeform 48"/>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6"/>
              <a:stretch>
                <a:fillRect/>
              </a:stretch>
            </a:blipFill>
          </p:spPr>
          <p:txBody>
            <a:bodyPr/>
            <a:lstStyle/>
            <a:p>
              <a:endParaRPr/>
            </a:p>
          </p:txBody>
        </p:sp>
        <p:sp>
          <p:nvSpPr>
            <p:cNvPr id="49" name="Freeform 49"/>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7"/>
              <a:stretch>
                <a:fillRect t="-5336" b="-5336"/>
              </a:stretch>
            </a:blipFill>
          </p:spPr>
          <p:txBody>
            <a:bodyPr/>
            <a:lstStyle/>
            <a:p>
              <a:endParaRPr/>
            </a:p>
          </p:txBody>
        </p:sp>
        <p:sp>
          <p:nvSpPr>
            <p:cNvPr id="50" name="Freeform 50"/>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8"/>
              <a:stretch>
                <a:fillRect t="-30723" b="-26499"/>
              </a:stretch>
            </a:blipFill>
          </p:spPr>
          <p:txBody>
            <a:bodyPr/>
            <a:lstStyle/>
            <a:p>
              <a:endParaRPr/>
            </a:p>
          </p:txBody>
        </p:sp>
        <p:sp>
          <p:nvSpPr>
            <p:cNvPr id="51" name="Freeform 51"/>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9"/>
              <a:stretch>
                <a:fillRect l="-97848" t="-88300" r="-107359" b="-90003"/>
              </a:stretch>
            </a:blipFill>
          </p:spPr>
          <p:txBody>
            <a:bodyPr/>
            <a:lstStyle/>
            <a:p>
              <a:endParaRPr/>
            </a:p>
          </p:txBody>
        </p:sp>
        <p:sp>
          <p:nvSpPr>
            <p:cNvPr id="52" name="Freeform 52"/>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0"/>
              <a:stretch>
                <a:fillRect/>
              </a:stretch>
            </a:blipFill>
          </p:spPr>
          <p:txBody>
            <a:bodyPr/>
            <a:lstStyle/>
            <a:p>
              <a:endParaRPr/>
            </a:p>
          </p:txBody>
        </p:sp>
        <p:sp>
          <p:nvSpPr>
            <p:cNvPr id="53" name="Freeform 53"/>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1"/>
              <a:stretch>
                <a:fillRect/>
              </a:stretch>
            </a:blipFill>
          </p:spPr>
          <p:txBody>
            <a:bodyPr/>
            <a:lstStyle/>
            <a:p>
              <a:endParaRPr/>
            </a:p>
          </p:txBody>
        </p:sp>
        <p:sp>
          <p:nvSpPr>
            <p:cNvPr id="54" name="Freeform 54"/>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2"/>
              <a:stretch>
                <a:fillRect/>
              </a:stretch>
            </a:blipFill>
          </p:spPr>
          <p:txBody>
            <a:bodyPr/>
            <a:lstStyle/>
            <a:p>
              <a:endParaRPr/>
            </a:p>
          </p:txBody>
        </p:sp>
        <p:sp>
          <p:nvSpPr>
            <p:cNvPr id="55" name="Freeform 55"/>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3"/>
              <a:stretch>
                <a:fillRect/>
              </a:stretch>
            </a:blipFill>
          </p:spPr>
          <p:txBody>
            <a:bodyPr/>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1924"/>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Problem Background</a:t>
              </a:r>
            </a:p>
          </p:txBody>
        </p:sp>
      </p:grpSp>
      <p:graphicFrame>
        <p:nvGraphicFramePr>
          <p:cNvPr id="11" name="Table 11"/>
          <p:cNvGraphicFramePr>
            <a:graphicFrameLocks noGrp="1"/>
          </p:cNvGraphicFramePr>
          <p:nvPr/>
        </p:nvGraphicFramePr>
        <p:xfrm>
          <a:off x="24" y="1071340"/>
          <a:ext cx="18262600" cy="7914515"/>
        </p:xfrm>
        <a:graphic>
          <a:graphicData uri="http://schemas.openxmlformats.org/drawingml/2006/table">
            <a:tbl>
              <a:tblPr/>
              <a:tblGrid>
                <a:gridCol w="3938053">
                  <a:extLst>
                    <a:ext uri="{9D8B030D-6E8A-4147-A177-3AD203B41FA5}">
                      <a16:colId xmlns:a16="http://schemas.microsoft.com/office/drawing/2014/main" val="20000"/>
                    </a:ext>
                  </a:extLst>
                </a:gridCol>
                <a:gridCol w="14324547">
                  <a:extLst>
                    <a:ext uri="{9D8B030D-6E8A-4147-A177-3AD203B41FA5}">
                      <a16:colId xmlns:a16="http://schemas.microsoft.com/office/drawing/2014/main" val="20001"/>
                    </a:ext>
                  </a:extLst>
                </a:gridCol>
              </a:tblGrid>
              <a:tr h="2636223">
                <a:tc>
                  <a:txBody>
                    <a:bodyPr/>
                    <a:lstStyle/>
                    <a:p>
                      <a:pPr algn="l">
                        <a:lnSpc>
                          <a:spcPts val="3600"/>
                        </a:lnSpc>
                        <a:defRPr/>
                      </a:pPr>
                      <a:r>
                        <a:rPr lang="en-US" sz="3000" b="1">
                          <a:solidFill>
                            <a:srgbClr val="44546A"/>
                          </a:solidFill>
                          <a:latin typeface="Arial Bold"/>
                          <a:ea typeface="Arial Bold"/>
                          <a:cs typeface="Arial Bold"/>
                          <a:sym typeface="Arial Bold"/>
                        </a:rPr>
                        <a:t>Domain of Proposed Problem</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Biomedical Instrumentation / Neonatal Point-of-Care Diagnostics — a non-invasive optical probe to screen newborns for hyperbilirubinemia (neonatal jaundice) without blood sampling.</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0"/>
                  </a:ext>
                </a:extLst>
              </a:tr>
              <a:tr h="2642069">
                <a:tc>
                  <a:txBody>
                    <a:bodyPr/>
                    <a:lstStyle/>
                    <a:p>
                      <a:pPr algn="l">
                        <a:lnSpc>
                          <a:spcPts val="3600"/>
                        </a:lnSpc>
                        <a:defRPr/>
                      </a:pPr>
                      <a:r>
                        <a:rPr lang="en-US" sz="3000" b="1">
                          <a:solidFill>
                            <a:srgbClr val="44546A"/>
                          </a:solidFill>
                          <a:latin typeface="Arial Bold"/>
                          <a:ea typeface="Arial Bold"/>
                          <a:cs typeface="Arial Bold"/>
                          <a:sym typeface="Arial Bold"/>
                        </a:rPr>
                        <a:t>Physiology of Anatomy in Normal Condition</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Red blood cell breakdown releases heme, which is converted to biliverdin and then to unconjugated (indirect) bilirubin. In the liver, the enzyme UDP-glucuronosyltransferase (UGT1A1) conjugates bilirubin, making it water-soluble for excretion via bile into the gut. In healthy newborns, bilirubin production is higher than in adults (shorter RBC lifespan, higher RBC mass) while the liver's conjugating capacity is still maturing, so a mild, self-limiting rise in serum bilirubin (physiological jaundice) is normal in the first days of life and resolves as hepatic enzyme activity matures.</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2636223">
                <a:tc>
                  <a:txBody>
                    <a:bodyPr/>
                    <a:lstStyle/>
                    <a:p>
                      <a:pPr algn="l">
                        <a:lnSpc>
                          <a:spcPts val="3600"/>
                        </a:lnSpc>
                        <a:defRPr/>
                      </a:pPr>
                      <a:r>
                        <a:rPr lang="en-US" sz="3000" b="1">
                          <a:solidFill>
                            <a:srgbClr val="44546A"/>
                          </a:solidFill>
                          <a:latin typeface="Arial Bold"/>
                          <a:ea typeface="Arial Bold"/>
                          <a:cs typeface="Arial Bold"/>
                          <a:sym typeface="Arial Bold"/>
                        </a:rPr>
                        <a:t>Physiology of Anatomy in  Abnormal/diseased Condition</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When bilirubin production exceeds the immature liver's conjugation/excretion capacity — due to ABO/Rh blood-group incompatibility, prematurity, cephalohematoma, G6PD deficiency, breastfeeding/breast-milk jaundice or sepsis — unconjugated bilirubin accumulates, depositing in skin and sclera (visible icterus). Because unconjugated bilirubin is lipid-soluble, very high levels can cross the immature neonatal blood-brain barrier and deposit in the basal ganglia, causing acute bilirubin encephalopathy and, if untreated, permanent kernicterus (cerebral palsy, hearing loss, sensory and cognitive impairment).</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bl>
          </a:graphicData>
        </a:graphic>
      </p:graphicFrame>
      <p:grpSp>
        <p:nvGrpSpPr>
          <p:cNvPr id="12" name="Group 12"/>
          <p:cNvGrpSpPr/>
          <p:nvPr/>
        </p:nvGrpSpPr>
        <p:grpSpPr>
          <a:xfrm>
            <a:off x="327422" y="140056"/>
            <a:ext cx="605609" cy="767429"/>
            <a:chOff x="0" y="0"/>
            <a:chExt cx="807479" cy="1023239"/>
          </a:xfrm>
        </p:grpSpPr>
        <p:sp>
          <p:nvSpPr>
            <p:cNvPr id="13" name="Freeform 13"/>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4" name="Group 14"/>
          <p:cNvGrpSpPr/>
          <p:nvPr/>
        </p:nvGrpSpPr>
        <p:grpSpPr>
          <a:xfrm>
            <a:off x="17330528" y="21374"/>
            <a:ext cx="815997" cy="886196"/>
            <a:chOff x="0" y="0"/>
            <a:chExt cx="1087996" cy="1181595"/>
          </a:xfrm>
        </p:grpSpPr>
        <p:sp>
          <p:nvSpPr>
            <p:cNvPr id="15" name="Freeform 15"/>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6" name="Group 16"/>
          <p:cNvGrpSpPr/>
          <p:nvPr/>
        </p:nvGrpSpPr>
        <p:grpSpPr>
          <a:xfrm>
            <a:off x="14807355" y="4048"/>
            <a:ext cx="2945997" cy="1000201"/>
            <a:chOff x="0" y="0"/>
            <a:chExt cx="3927996" cy="1333602"/>
          </a:xfrm>
        </p:grpSpPr>
        <p:sp>
          <p:nvSpPr>
            <p:cNvPr id="17" name="Freeform 17"/>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8" name="TextBox 18"/>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pSp>
        <p:nvGrpSpPr>
          <p:cNvPr id="19" name="Group 19"/>
          <p:cNvGrpSpPr/>
          <p:nvPr/>
        </p:nvGrpSpPr>
        <p:grpSpPr>
          <a:xfrm>
            <a:off x="355185" y="9014381"/>
            <a:ext cx="17654292" cy="1633747"/>
            <a:chOff x="0" y="0"/>
            <a:chExt cx="23539056" cy="2178329"/>
          </a:xfrm>
        </p:grpSpPr>
        <p:sp>
          <p:nvSpPr>
            <p:cNvPr id="20" name="Freeform 20"/>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1" name="Freeform 21"/>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2" name="Freeform 22"/>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3" name="Freeform 23"/>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4" name="Freeform 24"/>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5" name="Freeform 25"/>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6" name="Freeform 26"/>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7" name="Freeform 27"/>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21555"/>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Stakeholders Analysis</a:t>
              </a:r>
            </a:p>
          </p:txBody>
        </p:sp>
      </p:grpSp>
      <p:graphicFrame>
        <p:nvGraphicFramePr>
          <p:cNvPr id="11" name="Table 11"/>
          <p:cNvGraphicFramePr>
            <a:graphicFrameLocks noGrp="1"/>
          </p:cNvGraphicFramePr>
          <p:nvPr/>
        </p:nvGraphicFramePr>
        <p:xfrm>
          <a:off x="45244" y="1164728"/>
          <a:ext cx="18211800" cy="7050633"/>
        </p:xfrm>
        <a:graphic>
          <a:graphicData uri="http://schemas.openxmlformats.org/drawingml/2006/table">
            <a:tbl>
              <a:tblPr/>
              <a:tblGrid>
                <a:gridCol w="708019">
                  <a:extLst>
                    <a:ext uri="{9D8B030D-6E8A-4147-A177-3AD203B41FA5}">
                      <a16:colId xmlns:a16="http://schemas.microsoft.com/office/drawing/2014/main" val="20000"/>
                    </a:ext>
                  </a:extLst>
                </a:gridCol>
                <a:gridCol w="3317204">
                  <a:extLst>
                    <a:ext uri="{9D8B030D-6E8A-4147-A177-3AD203B41FA5}">
                      <a16:colId xmlns:a16="http://schemas.microsoft.com/office/drawing/2014/main" val="20001"/>
                    </a:ext>
                  </a:extLst>
                </a:gridCol>
                <a:gridCol w="4728859">
                  <a:extLst>
                    <a:ext uri="{9D8B030D-6E8A-4147-A177-3AD203B41FA5}">
                      <a16:colId xmlns:a16="http://schemas.microsoft.com/office/drawing/2014/main" val="20002"/>
                    </a:ext>
                  </a:extLst>
                </a:gridCol>
                <a:gridCol w="4728859">
                  <a:extLst>
                    <a:ext uri="{9D8B030D-6E8A-4147-A177-3AD203B41FA5}">
                      <a16:colId xmlns:a16="http://schemas.microsoft.com/office/drawing/2014/main" val="20003"/>
                    </a:ext>
                  </a:extLst>
                </a:gridCol>
                <a:gridCol w="4728859">
                  <a:extLst>
                    <a:ext uri="{9D8B030D-6E8A-4147-A177-3AD203B41FA5}">
                      <a16:colId xmlns:a16="http://schemas.microsoft.com/office/drawing/2014/main" val="20004"/>
                    </a:ext>
                  </a:extLst>
                </a:gridCol>
              </a:tblGrid>
              <a:tr h="655769">
                <a:tc>
                  <a:txBody>
                    <a:bodyPr/>
                    <a:lstStyle/>
                    <a:p>
                      <a:pPr algn="l">
                        <a:lnSpc>
                          <a:spcPts val="3600"/>
                        </a:lnSpc>
                        <a:defRPr/>
                      </a:pPr>
                      <a:r>
                        <a:rPr lang="en-US" sz="3000">
                          <a:solidFill>
                            <a:srgbClr val="FFFFFF"/>
                          </a:solidFill>
                          <a:latin typeface="Arial"/>
                          <a:ea typeface="Arial"/>
                          <a:cs typeface="Arial"/>
                          <a:sym typeface="Arial"/>
                        </a:rPr>
                        <a: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Stakeholders list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Key activities by Stakeholders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Difficulties faced by Stakeholders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Value Additions </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Neonate (patient)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Undergoes routine jaundice screening before discharge and at follow-up visits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Cannot communicate discomfort; repeated heel-prick blood draws cause pain, bruising and infection risk</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Painless, fast, needle-free screening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Parents / caregivers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Bring newborn for check-ups; observe skin/eye yellowing at home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Limited clinical knowledge to judge severity; anxiety and travel burden for repeat lab tests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Simple take-home/PHC screening with clear risk indication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Neonatologist / Pediatrician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Interprets bilirubin values, decides phototherapy/exchange transfusion per AAP 2022 nomograms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Relies on TSB draws when TcB devices are unavailable or unreliable on darker skin tones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Quick, accurate screening value to guide need for confirmatory TSB test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NICU / postnatal nurses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Perform screening measurements each shift; document readings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Existing TcB meters are costly, need calibration, and stock is often shared across wards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Low-cost, rugged, easy-to-operate probe per bed/ward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ASHA / community health workers (India)</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Conduct home visits and early newborn-care checks in rural areas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No access to bilirubinometers or lab facilities; visual assessment of jaundice is unreliable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Portable, battery-operated device enabling field screening and referral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Hospital biomedical/procurement dept.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Purchases, maintains and calibrates diagnostic equipment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High capital cost (~US$2,000–5,000) and service contracts for imported TcB meters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Affordable indigenous device with low maintenance overhead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Regulatory bodies (CDSCO, FDA)</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Review safety, performance and quality documentation for clearance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Requires evidence of electrical safety, biocompatibility and clinical correlation with TSB</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Design aligned with IEC 60601 series, ISO 14971 and 21 CFR 862.1113 from the outset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7"/>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000" b="1">
                          <a:solidFill>
                            <a:srgbClr val="000000"/>
                          </a:solidFill>
                          <a:latin typeface="Arial"/>
                        </a:rPr>
                        <a:t>Government health schemes / insurers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Fund newborn-care programs (e.g. India's Rashtriya Bal Swasthya Karyakram)</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Budget constraints limit deployment of imported screening devices to primary health centres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Cost-effective device supporting universal predischarge screening at scale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8"/>
                  </a:ext>
                </a:extLst>
              </a:tr>
              <a:tr h="655769">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EE599"/>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9"/>
                  </a:ext>
                </a:extLst>
              </a:tr>
            </a:tbl>
          </a:graphicData>
        </a:graphic>
      </p:graphicFrame>
      <p:grpSp>
        <p:nvGrpSpPr>
          <p:cNvPr id="12" name="Group 12"/>
          <p:cNvGrpSpPr/>
          <p:nvPr/>
        </p:nvGrpSpPr>
        <p:grpSpPr>
          <a:xfrm>
            <a:off x="327422" y="140056"/>
            <a:ext cx="605609" cy="767429"/>
            <a:chOff x="0" y="0"/>
            <a:chExt cx="807479" cy="1023239"/>
          </a:xfrm>
        </p:grpSpPr>
        <p:sp>
          <p:nvSpPr>
            <p:cNvPr id="13" name="Freeform 13"/>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4" name="Group 14"/>
          <p:cNvGrpSpPr/>
          <p:nvPr/>
        </p:nvGrpSpPr>
        <p:grpSpPr>
          <a:xfrm>
            <a:off x="17330528" y="21374"/>
            <a:ext cx="815997" cy="886196"/>
            <a:chOff x="0" y="0"/>
            <a:chExt cx="1087996" cy="1181595"/>
          </a:xfrm>
        </p:grpSpPr>
        <p:sp>
          <p:nvSpPr>
            <p:cNvPr id="15" name="Freeform 15"/>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6" name="Group 16"/>
          <p:cNvGrpSpPr/>
          <p:nvPr/>
        </p:nvGrpSpPr>
        <p:grpSpPr>
          <a:xfrm>
            <a:off x="14807355" y="4048"/>
            <a:ext cx="2945997" cy="1000201"/>
            <a:chOff x="0" y="0"/>
            <a:chExt cx="3927996" cy="1333602"/>
          </a:xfrm>
        </p:grpSpPr>
        <p:sp>
          <p:nvSpPr>
            <p:cNvPr id="17" name="Freeform 17"/>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8" name="TextBox 18"/>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pSp>
        <p:nvGrpSpPr>
          <p:cNvPr id="19" name="Group 19"/>
          <p:cNvGrpSpPr/>
          <p:nvPr/>
        </p:nvGrpSpPr>
        <p:grpSpPr>
          <a:xfrm>
            <a:off x="355185" y="9014381"/>
            <a:ext cx="17654292" cy="1633747"/>
            <a:chOff x="0" y="0"/>
            <a:chExt cx="23539056" cy="2178329"/>
          </a:xfrm>
        </p:grpSpPr>
        <p:sp>
          <p:nvSpPr>
            <p:cNvPr id="20" name="Freeform 20"/>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1" name="Freeform 21"/>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2" name="Freeform 22"/>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3" name="Freeform 23"/>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4" name="Freeform 24"/>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5" name="Freeform 25"/>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6" name="Freeform 26"/>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7" name="Freeform 27"/>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21574"/>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Prior Art</a:t>
              </a:r>
            </a:p>
          </p:txBody>
        </p:sp>
      </p:grpSp>
      <p:graphicFrame>
        <p:nvGraphicFramePr>
          <p:cNvPr id="11" name="Table 11"/>
          <p:cNvGraphicFramePr>
            <a:graphicFrameLocks noGrp="1"/>
          </p:cNvGraphicFramePr>
          <p:nvPr/>
        </p:nvGraphicFramePr>
        <p:xfrm>
          <a:off x="45244" y="1774328"/>
          <a:ext cx="18160998" cy="6604002"/>
        </p:xfrm>
        <a:graphic>
          <a:graphicData uri="http://schemas.openxmlformats.org/drawingml/2006/table">
            <a:tbl>
              <a:tblPr/>
              <a:tblGrid>
                <a:gridCol w="3627210">
                  <a:extLst>
                    <a:ext uri="{9D8B030D-6E8A-4147-A177-3AD203B41FA5}">
                      <a16:colId xmlns:a16="http://schemas.microsoft.com/office/drawing/2014/main" val="20000"/>
                    </a:ext>
                  </a:extLst>
                </a:gridCol>
                <a:gridCol w="3633447">
                  <a:extLst>
                    <a:ext uri="{9D8B030D-6E8A-4147-A177-3AD203B41FA5}">
                      <a16:colId xmlns:a16="http://schemas.microsoft.com/office/drawing/2014/main" val="20001"/>
                    </a:ext>
                  </a:extLst>
                </a:gridCol>
                <a:gridCol w="3633447">
                  <a:extLst>
                    <a:ext uri="{9D8B030D-6E8A-4147-A177-3AD203B41FA5}">
                      <a16:colId xmlns:a16="http://schemas.microsoft.com/office/drawing/2014/main" val="20002"/>
                    </a:ext>
                  </a:extLst>
                </a:gridCol>
                <a:gridCol w="3633447">
                  <a:extLst>
                    <a:ext uri="{9D8B030D-6E8A-4147-A177-3AD203B41FA5}">
                      <a16:colId xmlns:a16="http://schemas.microsoft.com/office/drawing/2014/main" val="20003"/>
                    </a:ext>
                  </a:extLst>
                </a:gridCol>
                <a:gridCol w="3633447">
                  <a:extLst>
                    <a:ext uri="{9D8B030D-6E8A-4147-A177-3AD203B41FA5}">
                      <a16:colId xmlns:a16="http://schemas.microsoft.com/office/drawing/2014/main" val="20004"/>
                    </a:ext>
                  </a:extLst>
                </a:gridCol>
              </a:tblGrid>
              <a:tr h="655769">
                <a:tc>
                  <a:txBody>
                    <a:bodyPr/>
                    <a:lstStyle/>
                    <a:p>
                      <a:pPr algn="l">
                        <a:lnSpc>
                          <a:spcPts val="3840"/>
                        </a:lnSpc>
                        <a:defRPr/>
                      </a:pPr>
                      <a:r>
                        <a:rPr lang="en-US" sz="3200">
                          <a:solidFill>
                            <a:srgbClr val="FFFFFF"/>
                          </a:solidFill>
                          <a:latin typeface="Arial"/>
                          <a:ea typeface="Arial"/>
                          <a:cs typeface="Arial"/>
                          <a:sym typeface="Arial"/>
                        </a:rPr>
                        <a:t>Device Name </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Brand Name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Website URL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Key Features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Limitations/gaps </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61558">
                <a:tc>
                  <a:txBody>
                    <a:bodyPr/>
                    <a:lstStyle/>
                    <a:p>
                      <a:pPr algn="l">
                        <a:lnSpc>
                          <a:spcPts val="1679"/>
                        </a:lnSpc>
                        <a:defRPr/>
                      </a:pPr>
                      <a:r>
                        <a:rPr sz="900" b="1">
                          <a:solidFill>
                            <a:srgbClr val="000000"/>
                          </a:solidFill>
                          <a:latin typeface="Arial"/>
                        </a:rPr>
                        <a:t>Dräger Jaundice Meter JM-105</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Drägerwerk AG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draeger.com</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Dual-optical-path reflectance at forehead/sternum; FDA 510(k) Class I (21 CFR 862.1113)</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Contact device, ~US$2,500+; underestimates TSB vs. lab reference, especially in preterm/darker-skin infants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661558">
                <a:tc>
                  <a:txBody>
                    <a:bodyPr/>
                    <a:lstStyle/>
                    <a:p>
                      <a:pPr algn="l">
                        <a:lnSpc>
                          <a:spcPts val="1679"/>
                        </a:lnSpc>
                        <a:defRPr/>
                      </a:pPr>
                      <a:r>
                        <a:rPr sz="900" b="1">
                          <a:solidFill>
                            <a:srgbClr val="000000"/>
                          </a:solidFill>
                          <a:latin typeface="Arial"/>
                        </a:rPr>
                        <a:t>BiliCheck</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SpectRx / Respironics (Philips)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philips.com</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Broadband multi-wavelength spectral reflectance probe; widely used research comparator</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Largely discontinued/limited availability; still contact-based and costly</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661558">
                <a:tc>
                  <a:txBody>
                    <a:bodyPr/>
                    <a:lstStyle/>
                    <a:p>
                      <a:pPr algn="l">
                        <a:lnSpc>
                          <a:spcPts val="1679"/>
                        </a:lnSpc>
                        <a:defRPr/>
                      </a:pPr>
                      <a:r>
                        <a:rPr sz="900" b="1">
                          <a:solidFill>
                            <a:srgbClr val="000000"/>
                          </a:solidFill>
                          <a:latin typeface="Arial"/>
                        </a:rPr>
                        <a:t>BiliCare</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Gerium Medical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geriummedical.com</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Ear-based transmission spectroscopy; CE-marked; tissue-thickness compensation (US9173603B2)</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Requires precise ear placement; fewer large-scale multi-site validation studies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661558">
                <a:tc>
                  <a:txBody>
                    <a:bodyPr/>
                    <a:lstStyle/>
                    <a:p>
                      <a:pPr algn="l">
                        <a:lnSpc>
                          <a:spcPts val="1679"/>
                        </a:lnSpc>
                        <a:defRPr/>
                      </a:pPr>
                      <a:r>
                        <a:rPr sz="900" b="1">
                          <a:solidFill>
                            <a:srgbClr val="000000"/>
                          </a:solidFill>
                          <a:latin typeface="Arial"/>
                        </a:rPr>
                        <a:t>Bilistick System</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Bilimetrix</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bilimetrix.com</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Point-of-care capillary blood micro-cuvette read on a portable analyzer; low reagent cost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Still requires a heel/finger blood prick; ~10–11% test-failure rate reported in field studies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661558">
                <a:tc>
                  <a:txBody>
                    <a:bodyPr/>
                    <a:lstStyle/>
                    <a:p>
                      <a:pPr algn="l">
                        <a:lnSpc>
                          <a:spcPts val="1679"/>
                        </a:lnSpc>
                        <a:defRPr/>
                      </a:pPr>
                      <a:r>
                        <a:rPr sz="900" b="1">
                          <a:solidFill>
                            <a:srgbClr val="000000"/>
                          </a:solidFill>
                          <a:latin typeface="Arial"/>
                        </a:rPr>
                        <a:t>BiliDx</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Academic/Cicada consortium (Malawi study)</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Low-cost fluorescence-based point-of-care bilirubin assay shown to outperform TcB in accuracy</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Still blood-sample based; limited to pilot deployment in a few hospitals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661558">
                <a:tc>
                  <a:txBody>
                    <a:bodyPr/>
                    <a:lstStyle/>
                    <a:p>
                      <a:pPr algn="l">
                        <a:lnSpc>
                          <a:spcPts val="1679"/>
                        </a:lnSpc>
                        <a:defRPr/>
                      </a:pPr>
                      <a:r>
                        <a:rPr sz="900" b="1">
                          <a:solidFill>
                            <a:srgbClr val="000000"/>
                          </a:solidFill>
                          <a:latin typeface="Arial"/>
                        </a:rPr>
                        <a:t>BiliCam</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University of Washington (research)</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Smartphone camera + printed colour-calibration card imaging of sternum skin, ML regression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Needs a calibration card and controlled lighting; not yet a commercial FDA-cleared product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r h="661558">
                <a:tc>
                  <a:txBody>
                    <a:bodyPr/>
                    <a:lstStyle/>
                    <a:p>
                      <a:pPr algn="l">
                        <a:lnSpc>
                          <a:spcPts val="1679"/>
                        </a:lnSpc>
                        <a:defRPr/>
                      </a:pPr>
                      <a:r>
                        <a:rPr sz="900" b="1">
                          <a:solidFill>
                            <a:srgbClr val="000000"/>
                          </a:solidFill>
                          <a:latin typeface="Arial"/>
                        </a:rPr>
                        <a:t>Picterus / neoSCB app</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Picterus AS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picterus.com</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Smartphone-based sclera/skin chromaticity analysis with ambient-light subtraction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Accuracy still affected by ambient lighting and skin tone; needs multi-ethnic validation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7"/>
                  </a:ext>
                </a:extLst>
              </a:tr>
              <a:tr h="661558">
                <a:tc>
                  <a:txBody>
                    <a:bodyPr/>
                    <a:lstStyle/>
                    <a:p>
                      <a:pPr algn="l">
                        <a:lnSpc>
                          <a:spcPts val="1679"/>
                        </a:lnSpc>
                        <a:defRPr/>
                      </a:pPr>
                      <a:r>
                        <a:rPr sz="900" b="1">
                          <a:solidFill>
                            <a:srgbClr val="000000"/>
                          </a:solidFill>
                          <a:latin typeface="Arial"/>
                        </a:rPr>
                        <a:t>BiliScan</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0">
                          <a:solidFill>
                            <a:srgbClr val="000000"/>
                          </a:solidFill>
                          <a:latin typeface="Arial"/>
                        </a:rPr>
                        <a:t>China-based developer</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Smartphone app estimating bilirubin from skin colour images with self-printed calibration card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Moderate correlation only (r ≈ 0.5–0.6); tends to overestimate TSB, cannot replace lab testing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8"/>
                  </a:ext>
                </a:extLst>
              </a:tr>
              <a:tr h="655769">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EE599"/>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dirty="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9"/>
                  </a:ext>
                </a:extLst>
              </a:tr>
            </a:tbl>
          </a:graphicData>
        </a:graphic>
      </p:graphicFrame>
      <p:grpSp>
        <p:nvGrpSpPr>
          <p:cNvPr id="12" name="Group 12"/>
          <p:cNvGrpSpPr/>
          <p:nvPr/>
        </p:nvGrpSpPr>
        <p:grpSpPr>
          <a:xfrm>
            <a:off x="327422" y="140056"/>
            <a:ext cx="605609" cy="767429"/>
            <a:chOff x="0" y="0"/>
            <a:chExt cx="807479" cy="1023239"/>
          </a:xfrm>
        </p:grpSpPr>
        <p:sp>
          <p:nvSpPr>
            <p:cNvPr id="13" name="Freeform 13"/>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4" name="Group 14"/>
          <p:cNvGrpSpPr/>
          <p:nvPr/>
        </p:nvGrpSpPr>
        <p:grpSpPr>
          <a:xfrm>
            <a:off x="17330528" y="21374"/>
            <a:ext cx="815997" cy="886196"/>
            <a:chOff x="0" y="0"/>
            <a:chExt cx="1087996" cy="1181595"/>
          </a:xfrm>
        </p:grpSpPr>
        <p:sp>
          <p:nvSpPr>
            <p:cNvPr id="15" name="Freeform 15"/>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sp>
        <p:nvSpPr>
          <p:cNvPr id="16" name="TextBox 16"/>
          <p:cNvSpPr txBox="1"/>
          <p:nvPr/>
        </p:nvSpPr>
        <p:spPr>
          <a:xfrm>
            <a:off x="113824" y="1007193"/>
            <a:ext cx="7901654" cy="659921"/>
          </a:xfrm>
          <a:prstGeom prst="rect">
            <a:avLst/>
          </a:prstGeom>
        </p:spPr>
        <p:txBody>
          <a:bodyPr lIns="0" tIns="0" rIns="0" bIns="0" rtlCol="0" anchor="t">
            <a:spAutoFit/>
          </a:bodyPr>
          <a:lstStyle/>
          <a:p>
            <a:pPr algn="l">
              <a:lnSpc>
                <a:spcPts val="4079"/>
              </a:lnSpc>
            </a:pPr>
            <a:r>
              <a:rPr lang="en-US" sz="3399" b="1">
                <a:solidFill>
                  <a:srgbClr val="44546A"/>
                </a:solidFill>
                <a:latin typeface="Calibri (MS) Bold"/>
                <a:ea typeface="Calibri (MS) Bold"/>
                <a:cs typeface="Calibri (MS) Bold"/>
                <a:sym typeface="Calibri (MS) Bold"/>
              </a:rPr>
              <a:t>Existing &amp; Emerging Solutions</a:t>
            </a:r>
          </a:p>
        </p:txBody>
      </p:sp>
      <p:grpSp>
        <p:nvGrpSpPr>
          <p:cNvPr id="17" name="Group 17"/>
          <p:cNvGrpSpPr/>
          <p:nvPr/>
        </p:nvGrpSpPr>
        <p:grpSpPr>
          <a:xfrm>
            <a:off x="14807355" y="4048"/>
            <a:ext cx="2945997" cy="1000201"/>
            <a:chOff x="0" y="0"/>
            <a:chExt cx="3927996" cy="1333602"/>
          </a:xfrm>
        </p:grpSpPr>
        <p:sp>
          <p:nvSpPr>
            <p:cNvPr id="18" name="Freeform 18"/>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9" name="TextBox 19"/>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pSp>
        <p:nvGrpSpPr>
          <p:cNvPr id="20" name="Group 20"/>
          <p:cNvGrpSpPr/>
          <p:nvPr/>
        </p:nvGrpSpPr>
        <p:grpSpPr>
          <a:xfrm>
            <a:off x="355185" y="9014381"/>
            <a:ext cx="17654292" cy="1633747"/>
            <a:chOff x="0" y="0"/>
            <a:chExt cx="23539056" cy="2178329"/>
          </a:xfrm>
        </p:grpSpPr>
        <p:sp>
          <p:nvSpPr>
            <p:cNvPr id="21" name="Freeform 21"/>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2" name="Freeform 22"/>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3" name="Freeform 23"/>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4" name="Freeform 24"/>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5" name="Freeform 25"/>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6" name="Freeform 26"/>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7" name="Freeform 27"/>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8" name="Freeform 28"/>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21574"/>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Prior Art</a:t>
              </a:r>
            </a:p>
          </p:txBody>
        </p:sp>
      </p:grpSp>
      <p:graphicFrame>
        <p:nvGraphicFramePr>
          <p:cNvPr id="11" name="Table 11"/>
          <p:cNvGraphicFramePr>
            <a:graphicFrameLocks noGrp="1"/>
          </p:cNvGraphicFramePr>
          <p:nvPr/>
        </p:nvGraphicFramePr>
        <p:xfrm>
          <a:off x="45244" y="1774328"/>
          <a:ext cx="18160999" cy="7050633"/>
        </p:xfrm>
        <a:graphic>
          <a:graphicData uri="http://schemas.openxmlformats.org/drawingml/2006/table">
            <a:tbl>
              <a:tblPr/>
              <a:tblGrid>
                <a:gridCol w="641675">
                  <a:extLst>
                    <a:ext uri="{9D8B030D-6E8A-4147-A177-3AD203B41FA5}">
                      <a16:colId xmlns:a16="http://schemas.microsoft.com/office/drawing/2014/main" val="20000"/>
                    </a:ext>
                  </a:extLst>
                </a:gridCol>
                <a:gridCol w="3413118">
                  <a:extLst>
                    <a:ext uri="{9D8B030D-6E8A-4147-A177-3AD203B41FA5}">
                      <a16:colId xmlns:a16="http://schemas.microsoft.com/office/drawing/2014/main" val="20001"/>
                    </a:ext>
                  </a:extLst>
                </a:gridCol>
                <a:gridCol w="1705240">
                  <a:extLst>
                    <a:ext uri="{9D8B030D-6E8A-4147-A177-3AD203B41FA5}">
                      <a16:colId xmlns:a16="http://schemas.microsoft.com/office/drawing/2014/main" val="20002"/>
                    </a:ext>
                  </a:extLst>
                </a:gridCol>
                <a:gridCol w="2171283">
                  <a:extLst>
                    <a:ext uri="{9D8B030D-6E8A-4147-A177-3AD203B41FA5}">
                      <a16:colId xmlns:a16="http://schemas.microsoft.com/office/drawing/2014/main" val="20003"/>
                    </a:ext>
                  </a:extLst>
                </a:gridCol>
                <a:gridCol w="2315950">
                  <a:extLst>
                    <a:ext uri="{9D8B030D-6E8A-4147-A177-3AD203B41FA5}">
                      <a16:colId xmlns:a16="http://schemas.microsoft.com/office/drawing/2014/main" val="20004"/>
                    </a:ext>
                  </a:extLst>
                </a:gridCol>
                <a:gridCol w="4888463">
                  <a:extLst>
                    <a:ext uri="{9D8B030D-6E8A-4147-A177-3AD203B41FA5}">
                      <a16:colId xmlns:a16="http://schemas.microsoft.com/office/drawing/2014/main" val="20005"/>
                    </a:ext>
                  </a:extLst>
                </a:gridCol>
                <a:gridCol w="3025270">
                  <a:extLst>
                    <a:ext uri="{9D8B030D-6E8A-4147-A177-3AD203B41FA5}">
                      <a16:colId xmlns:a16="http://schemas.microsoft.com/office/drawing/2014/main" val="20006"/>
                    </a:ext>
                  </a:extLst>
                </a:gridCol>
              </a:tblGrid>
              <a:tr h="655769">
                <a:tc>
                  <a:txBody>
                    <a:bodyPr/>
                    <a:lstStyle/>
                    <a:p>
                      <a:pPr algn="l">
                        <a:lnSpc>
                          <a:spcPts val="3600"/>
                        </a:lnSpc>
                        <a:defRPr/>
                      </a:pPr>
                      <a:r>
                        <a:rPr lang="en-US" sz="3000">
                          <a:solidFill>
                            <a:srgbClr val="FFFFFF"/>
                          </a:solidFill>
                          <a:latin typeface="Arial"/>
                          <a:ea typeface="Arial"/>
                          <a:cs typeface="Arial"/>
                          <a:sym typeface="Arial"/>
                        </a:rPr>
                        <a: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Title </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Authors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Year of Publication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Journal Name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Key Takeaways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Keywords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61558">
                <a:tc>
                  <a:txBody>
                    <a:bodyPr/>
                    <a:lstStyle/>
                    <a:p>
                      <a:pPr algn="l">
                        <a:lnSpc>
                          <a:spcPts val="1679"/>
                        </a:lnSpc>
                        <a:defRPr/>
                      </a:pPr>
                      <a:r>
                        <a:rPr sz="900" b="1">
                          <a:solidFill>
                            <a:srgbClr val="000000"/>
                          </a:solidFill>
                          <a:latin typeface="Arial"/>
                        </a:rPr>
                        <a:t>1</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Use of a Smartphone App to Assess Neonatal Jaundice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Taylor JA, Stout JW, de Greef L,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2017</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Pediatrics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BiliCam sternum-image analysis performed comparably to transcutaneous bilirubinometers across a multi-ethnic sample of newborns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Smartphone, TSB, screening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661558">
                <a:tc>
                  <a:txBody>
                    <a:bodyPr/>
                    <a:lstStyle/>
                    <a:p>
                      <a:pPr algn="l">
                        <a:lnSpc>
                          <a:spcPts val="1679"/>
                        </a:lnSpc>
                        <a:defRPr/>
                      </a:pPr>
                      <a:r>
                        <a:rPr sz="900" b="1">
                          <a:solidFill>
                            <a:srgbClr val="000000"/>
                          </a:solidFill>
                          <a:latin typeface="Arial"/>
                        </a:rPr>
                        <a:t>2</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Smartphone screening for neonatal jaundice via ambient-subtracted sclera chromaticity</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Outlaw F, Nixon M, Odeyemi O,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2020</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PLOS ONE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Ambient-light-subtracted sclera colour analysis achieved sensitivity/specificity comparable to modern TcB devices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Sclera imaging, chromaticity</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661558">
                <a:tc>
                  <a:txBody>
                    <a:bodyPr/>
                    <a:lstStyle/>
                    <a:p>
                      <a:pPr algn="l">
                        <a:lnSpc>
                          <a:spcPts val="1679"/>
                        </a:lnSpc>
                        <a:defRPr/>
                      </a:pPr>
                      <a:r>
                        <a:rPr sz="900" b="1">
                          <a:solidFill>
                            <a:srgbClr val="000000"/>
                          </a:solidFill>
                          <a:latin typeface="Arial"/>
                        </a:rPr>
                        <a:t>3</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Large scale validation of a new non-invasive and non-contact bilirubinometer in neonates with risk factors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Halder A, Adhikari A, Ghosh R,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2020</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Scientific Reports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Large-cohort validation of a non-contact optical bilirubinometer, supporting feasibility of contactless designs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Non-contact, validation, risk factors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661558">
                <a:tc>
                  <a:txBody>
                    <a:bodyPr/>
                    <a:lstStyle/>
                    <a:p>
                      <a:pPr algn="l">
                        <a:lnSpc>
                          <a:spcPts val="1679"/>
                        </a:lnSpc>
                        <a:defRPr/>
                      </a:pPr>
                      <a:r>
                        <a:rPr sz="900" b="1">
                          <a:solidFill>
                            <a:srgbClr val="000000"/>
                          </a:solidFill>
                          <a:latin typeface="Arial"/>
                        </a:rPr>
                        <a:t>4</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Diagnostic Properties of a Portable Point-of-Care Method to Measure Bilirubin and a Transcutaneous Bilirubinometer</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Sampurna MTA, Rani SAD, Sauer PJJ,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2021</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Neonatology</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Compared Bilistick and JM-105 against lab TSB; TcB showed slightly better agreement, Bilistick failed in ~11% of infants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Bilistick, JM-105, point-of-care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661558">
                <a:tc>
                  <a:txBody>
                    <a:bodyPr/>
                    <a:lstStyle/>
                    <a:p>
                      <a:pPr algn="l">
                        <a:lnSpc>
                          <a:spcPts val="1679"/>
                        </a:lnSpc>
                        <a:defRPr/>
                      </a:pPr>
                      <a:r>
                        <a:rPr sz="900" b="1">
                          <a:solidFill>
                            <a:srgbClr val="000000"/>
                          </a:solidFill>
                          <a:latin typeface="Arial"/>
                        </a:rPr>
                        <a:t>5</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Transcutaneous bilirubinometry versus total serum bilirubin measurement for newborns (Cochrane review)</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Okwundu CI, Olowoyeye A, Uthman OA,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2023</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Cochrane Database of Systematic Reviews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Systematic review concluding TcB can reduce the number of blood draws while remaining a reasonable screening proxy for TSB</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Systematic review, TcB vs TSB</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661558">
                <a:tc>
                  <a:txBody>
                    <a:bodyPr/>
                    <a:lstStyle/>
                    <a:p>
                      <a:pPr algn="l">
                        <a:lnSpc>
                          <a:spcPts val="1679"/>
                        </a:lnSpc>
                        <a:defRPr/>
                      </a:pPr>
                      <a:r>
                        <a:rPr sz="900" b="1">
                          <a:solidFill>
                            <a:srgbClr val="000000"/>
                          </a:solidFill>
                          <a:latin typeface="Arial"/>
                        </a:rPr>
                        <a:t>6</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Measuring transcutaneous bilirubin: a comparative analysis of three devices on a multiracial population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Raimondi F, Lama S, Landolfo F,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2012</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BMC Pediatrics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BiliCheck and JM-103 showed good correlation with TSB (r=0.86, 0.85) and outperformed BiliMed across a multiracial cohort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Comparative study, multiracial, correlation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r h="661558">
                <a:tc>
                  <a:txBody>
                    <a:bodyPr/>
                    <a:lstStyle/>
                    <a:p>
                      <a:pPr algn="l">
                        <a:lnSpc>
                          <a:spcPts val="1679"/>
                        </a:lnSpc>
                        <a:defRPr/>
                      </a:pPr>
                      <a:r>
                        <a:rPr sz="900" b="1">
                          <a:solidFill>
                            <a:srgbClr val="000000"/>
                          </a:solidFill>
                          <a:latin typeface="Arial"/>
                        </a:rPr>
                        <a:t>7</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Development and Validation of a Smartphone Application for Neonatal Jaundice Screening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Multi-site study group</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2024</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JAMA Network Open (study)</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AI/ML app using forehead, sternum and abdomen yellowness indicators reached 100% sensitivity, 70% specificity in a multiethnic cohort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AI/ML, multiethnic, skin tone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7"/>
                  </a:ext>
                </a:extLst>
              </a:tr>
              <a:tr h="661558">
                <a:tc>
                  <a:txBody>
                    <a:bodyPr/>
                    <a:lstStyle/>
                    <a:p>
                      <a:pPr algn="l">
                        <a:lnSpc>
                          <a:spcPts val="1679"/>
                        </a:lnSpc>
                        <a:defRPr/>
                      </a:pPr>
                      <a:r>
                        <a:rPr sz="900" b="1">
                          <a:solidFill>
                            <a:srgbClr val="000000"/>
                          </a:solidFill>
                          <a:latin typeface="Arial"/>
                        </a:rPr>
                        <a:t>8</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850" b="0">
                          <a:solidFill>
                            <a:srgbClr val="000000"/>
                          </a:solidFill>
                          <a:latin typeface="Arial"/>
                        </a:rPr>
                        <a:t>Evaluation of BiliCare™ transcutaneous bilirubin device in Japanese newborns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Yamana K, Morioka I, Kurokawa D,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2017</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Pediatrics International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Validated ear-based spectroscopic TcB device performance against serum bilirubin in an Asian newborn population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Ear probe, spectroscopy, validation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8"/>
                  </a:ext>
                </a:extLst>
              </a:tr>
              <a:tr h="655769">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EE599"/>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9"/>
                  </a:ext>
                </a:extLst>
              </a:tr>
            </a:tbl>
          </a:graphicData>
        </a:graphic>
      </p:graphicFrame>
      <p:grpSp>
        <p:nvGrpSpPr>
          <p:cNvPr id="12" name="Group 12"/>
          <p:cNvGrpSpPr/>
          <p:nvPr/>
        </p:nvGrpSpPr>
        <p:grpSpPr>
          <a:xfrm>
            <a:off x="327422" y="140056"/>
            <a:ext cx="605609" cy="767429"/>
            <a:chOff x="0" y="0"/>
            <a:chExt cx="807479" cy="1023239"/>
          </a:xfrm>
        </p:grpSpPr>
        <p:sp>
          <p:nvSpPr>
            <p:cNvPr id="13" name="Freeform 13"/>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4" name="Group 14"/>
          <p:cNvGrpSpPr/>
          <p:nvPr/>
        </p:nvGrpSpPr>
        <p:grpSpPr>
          <a:xfrm>
            <a:off x="17330528" y="21374"/>
            <a:ext cx="815997" cy="886196"/>
            <a:chOff x="0" y="0"/>
            <a:chExt cx="1087996" cy="1181595"/>
          </a:xfrm>
        </p:grpSpPr>
        <p:sp>
          <p:nvSpPr>
            <p:cNvPr id="15" name="Freeform 15"/>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sp>
        <p:nvSpPr>
          <p:cNvPr id="16" name="TextBox 16"/>
          <p:cNvSpPr txBox="1"/>
          <p:nvPr/>
        </p:nvSpPr>
        <p:spPr>
          <a:xfrm>
            <a:off x="113824" y="1007193"/>
            <a:ext cx="7901654" cy="659921"/>
          </a:xfrm>
          <a:prstGeom prst="rect">
            <a:avLst/>
          </a:prstGeom>
        </p:spPr>
        <p:txBody>
          <a:bodyPr lIns="0" tIns="0" rIns="0" bIns="0" rtlCol="0" anchor="t">
            <a:spAutoFit/>
          </a:bodyPr>
          <a:lstStyle/>
          <a:p>
            <a:pPr algn="l">
              <a:lnSpc>
                <a:spcPts val="4079"/>
              </a:lnSpc>
            </a:pPr>
            <a:r>
              <a:rPr lang="en-US" sz="3399" b="1">
                <a:solidFill>
                  <a:srgbClr val="44546A"/>
                </a:solidFill>
                <a:latin typeface="Calibri (MS) Bold"/>
                <a:ea typeface="Calibri (MS) Bold"/>
                <a:cs typeface="Calibri (MS) Bold"/>
                <a:sym typeface="Calibri (MS) Bold"/>
              </a:rPr>
              <a:t>Relevant Papers/Publications</a:t>
            </a:r>
          </a:p>
        </p:txBody>
      </p:sp>
      <p:grpSp>
        <p:nvGrpSpPr>
          <p:cNvPr id="17" name="Group 17"/>
          <p:cNvGrpSpPr/>
          <p:nvPr/>
        </p:nvGrpSpPr>
        <p:grpSpPr>
          <a:xfrm>
            <a:off x="14807355" y="4048"/>
            <a:ext cx="2945997" cy="1000201"/>
            <a:chOff x="0" y="0"/>
            <a:chExt cx="3927996" cy="1333602"/>
          </a:xfrm>
        </p:grpSpPr>
        <p:sp>
          <p:nvSpPr>
            <p:cNvPr id="18" name="Freeform 18"/>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9" name="TextBox 19"/>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pSp>
        <p:nvGrpSpPr>
          <p:cNvPr id="20" name="Group 20"/>
          <p:cNvGrpSpPr/>
          <p:nvPr/>
        </p:nvGrpSpPr>
        <p:grpSpPr>
          <a:xfrm>
            <a:off x="355185" y="9014381"/>
            <a:ext cx="17654292" cy="1633747"/>
            <a:chOff x="0" y="0"/>
            <a:chExt cx="23539056" cy="2178329"/>
          </a:xfrm>
        </p:grpSpPr>
        <p:sp>
          <p:nvSpPr>
            <p:cNvPr id="21" name="Freeform 21"/>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2" name="Freeform 22"/>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3" name="Freeform 23"/>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4" name="Freeform 24"/>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5" name="Freeform 25"/>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6" name="Freeform 26"/>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7" name="Freeform 27"/>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8" name="Freeform 28"/>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aphicFrame>
        <p:nvGraphicFramePr>
          <p:cNvPr id="8" name="Table 8"/>
          <p:cNvGraphicFramePr>
            <a:graphicFrameLocks noGrp="1"/>
          </p:cNvGraphicFramePr>
          <p:nvPr/>
        </p:nvGraphicFramePr>
        <p:xfrm>
          <a:off x="45244" y="1774328"/>
          <a:ext cx="18135600" cy="7050633"/>
        </p:xfrm>
        <a:graphic>
          <a:graphicData uri="http://schemas.openxmlformats.org/drawingml/2006/table">
            <a:tbl>
              <a:tblPr/>
              <a:tblGrid>
                <a:gridCol w="642533">
                  <a:extLst>
                    <a:ext uri="{9D8B030D-6E8A-4147-A177-3AD203B41FA5}">
                      <a16:colId xmlns:a16="http://schemas.microsoft.com/office/drawing/2014/main" val="20000"/>
                    </a:ext>
                  </a:extLst>
                </a:gridCol>
                <a:gridCol w="3549095">
                  <a:extLst>
                    <a:ext uri="{9D8B030D-6E8A-4147-A177-3AD203B41FA5}">
                      <a16:colId xmlns:a16="http://schemas.microsoft.com/office/drawing/2014/main" val="20001"/>
                    </a:ext>
                  </a:extLst>
                </a:gridCol>
                <a:gridCol w="1932491">
                  <a:extLst>
                    <a:ext uri="{9D8B030D-6E8A-4147-A177-3AD203B41FA5}">
                      <a16:colId xmlns:a16="http://schemas.microsoft.com/office/drawing/2014/main" val="20002"/>
                    </a:ext>
                  </a:extLst>
                </a:gridCol>
                <a:gridCol w="1562611">
                  <a:extLst>
                    <a:ext uri="{9D8B030D-6E8A-4147-A177-3AD203B41FA5}">
                      <a16:colId xmlns:a16="http://schemas.microsoft.com/office/drawing/2014/main" val="20003"/>
                    </a:ext>
                  </a:extLst>
                </a:gridCol>
                <a:gridCol w="2152521">
                  <a:extLst>
                    <a:ext uri="{9D8B030D-6E8A-4147-A177-3AD203B41FA5}">
                      <a16:colId xmlns:a16="http://schemas.microsoft.com/office/drawing/2014/main" val="20004"/>
                    </a:ext>
                  </a:extLst>
                </a:gridCol>
                <a:gridCol w="5267033">
                  <a:extLst>
                    <a:ext uri="{9D8B030D-6E8A-4147-A177-3AD203B41FA5}">
                      <a16:colId xmlns:a16="http://schemas.microsoft.com/office/drawing/2014/main" val="20005"/>
                    </a:ext>
                  </a:extLst>
                </a:gridCol>
                <a:gridCol w="3029316">
                  <a:extLst>
                    <a:ext uri="{9D8B030D-6E8A-4147-A177-3AD203B41FA5}">
                      <a16:colId xmlns:a16="http://schemas.microsoft.com/office/drawing/2014/main" val="20006"/>
                    </a:ext>
                  </a:extLst>
                </a:gridCol>
              </a:tblGrid>
              <a:tr h="655769">
                <a:tc>
                  <a:txBody>
                    <a:bodyPr/>
                    <a:lstStyle/>
                    <a:p>
                      <a:pPr algn="l">
                        <a:lnSpc>
                          <a:spcPts val="3600"/>
                        </a:lnSpc>
                        <a:defRPr/>
                      </a:pPr>
                      <a:r>
                        <a:rPr lang="en-US" sz="3000">
                          <a:solidFill>
                            <a:srgbClr val="FFFFFF"/>
                          </a:solidFill>
                          <a:latin typeface="Arial"/>
                          <a:ea typeface="Arial"/>
                          <a:cs typeface="Arial"/>
                          <a:sym typeface="Arial"/>
                        </a:rPr>
                        <a: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gridSpan="2">
                  <a:txBody>
                    <a:bodyPr/>
                    <a:lstStyle/>
                    <a:p>
                      <a:pPr algn="l">
                        <a:lnSpc>
                          <a:spcPts val="3840"/>
                        </a:lnSpc>
                        <a:defRPr/>
                      </a:pPr>
                      <a:r>
                        <a:rPr lang="en-US" sz="3200" b="1">
                          <a:solidFill>
                            <a:srgbClr val="FFFFFF"/>
                          </a:solidFill>
                          <a:latin typeface="Calibri (MS) Bold"/>
                          <a:ea typeface="Calibri (MS) Bold"/>
                          <a:cs typeface="Calibri (MS) Bold"/>
                          <a:sym typeface="Calibri (MS) Bold"/>
                        </a:rPr>
                        <a:t>Title </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hMerge="1">
                  <a:txBody>
                    <a:bodyPr/>
                    <a:lstStyle/>
                    <a:p>
                      <a:pPr algn="l">
                        <a:lnSpc>
                          <a:spcPts val="3840"/>
                        </a:lnSpc>
                        <a:defRPr/>
                      </a:pPr>
                      <a:r>
                        <a:rPr lang="en-US" sz="3200" b="1">
                          <a:solidFill>
                            <a:srgbClr val="FFFFFF"/>
                          </a:solidFill>
                          <a:latin typeface="Calibri (MS) Bold"/>
                          <a:ea typeface="Calibri (MS) Bold"/>
                          <a:cs typeface="Calibri (MS) Bold"/>
                          <a:sym typeface="Calibri (MS) Bold"/>
                        </a:rPr>
                        <a:t>Title </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Year of Filing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Countries protected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Key Takeaways/Claims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Patent Filing Status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61558">
                <a:tc>
                  <a:txBody>
                    <a:bodyPr/>
                    <a:lstStyle/>
                    <a:p>
                      <a:pPr algn="l">
                        <a:lnSpc>
                          <a:spcPts val="1679"/>
                        </a:lnSpc>
                        <a:defRPr/>
                      </a:pPr>
                      <a:r>
                        <a:rPr sz="850" b="1">
                          <a:solidFill>
                            <a:srgbClr val="000000"/>
                          </a:solidFill>
                          <a:latin typeface="Arial"/>
                        </a:rPr>
                        <a:t>1</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r>
                        <a:rPr sz="850" b="0">
                          <a:solidFill>
                            <a:srgbClr val="000000"/>
                          </a:solidFill>
                          <a:latin typeface="Arial"/>
                        </a:rPr>
                        <a:t>Method and apparatus for optical measurement of bilirubin in tissue (US5353790A) — Jacques SL et al. (Respironics/BiliChek lineage)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hMerge="1">
                  <a:txBody>
                    <a:bodyPr/>
                    <a:lstStyle/>
                    <a:p>
                      <a:pPr algn="l">
                        <a:lnSpc>
                          <a:spcPts val="1679"/>
                        </a:lnSpc>
                        <a:defRPr/>
                      </a:pPr>
                      <a:r>
                        <a:rPr sz="850" b="0">
                          <a:solidFill>
                            <a:srgbClr val="000000"/>
                          </a:solidFill>
                          <a:latin typeface="Arial"/>
                        </a:rPr>
                        <a:t>Jacques SL et al. (Respironics/BiliChek lineage)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1993</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United States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Multi-wavelength transcutaneous reflectance spectroscopy to estimate cutaneous bilirubin concentration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Granted (expired)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661558">
                <a:tc>
                  <a:txBody>
                    <a:bodyPr/>
                    <a:lstStyle/>
                    <a:p>
                      <a:pPr algn="l">
                        <a:lnSpc>
                          <a:spcPts val="1679"/>
                        </a:lnSpc>
                        <a:defRPr/>
                      </a:pPr>
                      <a:r>
                        <a:rPr sz="850" b="1">
                          <a:solidFill>
                            <a:srgbClr val="000000"/>
                          </a:solidFill>
                          <a:latin typeface="Arial"/>
                        </a:rPr>
                        <a:t>2</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r>
                        <a:rPr sz="850" b="0">
                          <a:solidFill>
                            <a:srgbClr val="000000"/>
                          </a:solidFill>
                          <a:latin typeface="Arial"/>
                        </a:rPr>
                        <a:t>Non-invasive device and method for measuring bilirubin levels (US9173603B2) — Molcho J, Zmora E; Gerium Medical Ltd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hMerge="1">
                  <a:txBody>
                    <a:bodyPr/>
                    <a:lstStyle/>
                    <a:p>
                      <a:pPr algn="l">
                        <a:lnSpc>
                          <a:spcPts val="1679"/>
                        </a:lnSpc>
                        <a:defRPr/>
                      </a:pPr>
                      <a:r>
                        <a:rPr sz="850" b="0">
                          <a:solidFill>
                            <a:srgbClr val="000000"/>
                          </a:solidFill>
                          <a:latin typeface="Arial"/>
                        </a:rPr>
                        <a:t>Molcho J, Zmora E — Gerium Medical Ltd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2011</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United States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Tissue-thickness-compensated multi-wavelength optical probe underlying the BiliCare ear device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Granted, active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661558">
                <a:tc>
                  <a:txBody>
                    <a:bodyPr/>
                    <a:lstStyle/>
                    <a:p>
                      <a:pPr algn="l">
                        <a:lnSpc>
                          <a:spcPts val="1679"/>
                        </a:lnSpc>
                        <a:defRPr/>
                      </a:pPr>
                      <a:r>
                        <a:rPr sz="850" b="1">
                          <a:solidFill>
                            <a:srgbClr val="000000"/>
                          </a:solidFill>
                          <a:latin typeface="Arial"/>
                        </a:rPr>
                        <a:t>3</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r>
                        <a:rPr sz="850" b="0">
                          <a:solidFill>
                            <a:srgbClr val="000000"/>
                          </a:solidFill>
                          <a:latin typeface="Arial"/>
                        </a:rPr>
                        <a:t>System and method for determining bilirubin levels in newborn babies (US9934589B2) — University of Washington (Taylor, Patel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hMerge="1">
                  <a:txBody>
                    <a:bodyPr/>
                    <a:lstStyle/>
                    <a:p>
                      <a:pPr algn="l">
                        <a:lnSpc>
                          <a:spcPts val="1679"/>
                        </a:lnSpc>
                        <a:defRPr/>
                      </a:pPr>
                      <a:r>
                        <a:rPr sz="850" b="0">
                          <a:solidFill>
                            <a:srgbClr val="000000"/>
                          </a:solidFill>
                          <a:latin typeface="Arial"/>
                        </a:rPr>
                        <a:t>University of Washington (Taylor, Patel et al.)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2013</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United States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Smartphone camera + light source/calibration reference used to estimate skin bilirubin concentration (BiliCam)</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Granted, active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661558">
                <a:tc>
                  <a:txBody>
                    <a:bodyPr/>
                    <a:lstStyle/>
                    <a:p>
                      <a:pPr algn="l">
                        <a:lnSpc>
                          <a:spcPts val="1679"/>
                        </a:lnSpc>
                        <a:defRPr/>
                      </a:pPr>
                      <a:r>
                        <a:rPr sz="850" b="1">
                          <a:solidFill>
                            <a:srgbClr val="000000"/>
                          </a:solidFill>
                          <a:latin typeface="Arial"/>
                        </a:rPr>
                        <a:t>4</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r>
                        <a:rPr sz="850" b="0">
                          <a:solidFill>
                            <a:srgbClr val="000000"/>
                          </a:solidFill>
                          <a:latin typeface="Arial"/>
                        </a:rPr>
                        <a:t>Electro-optical instrument for non-invasive measurement of bilirubin in skin tissue (US4267844A) — Yamanishi; Minolta</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hMerge="1">
                  <a:txBody>
                    <a:bodyPr/>
                    <a:lstStyle/>
                    <a:p>
                      <a:pPr algn="l">
                        <a:lnSpc>
                          <a:spcPts val="1679"/>
                        </a:lnSpc>
                        <a:defRPr/>
                      </a:pPr>
                      <a:r>
                        <a:rPr sz="850" b="0">
                          <a:solidFill>
                            <a:srgbClr val="000000"/>
                          </a:solidFill>
                          <a:latin typeface="Arial"/>
                        </a:rPr>
                        <a:t>Yamanishi — Minolta</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1979</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United States / Japan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Flash-light source with dual-wavelength optical separation, foundational prior art for transcutaneous bilirubinometers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Granted (expired)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hMerge="1">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hMerge="1">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hMerge="1">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7"/>
                  </a:ext>
                </a:extLst>
              </a:tr>
              <a:tr h="661558">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gridSpan="2">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hMerge="1">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8"/>
                  </a:ext>
                </a:extLst>
              </a:tr>
              <a:tr h="655769">
                <a:tc>
                  <a:txBody>
                    <a:bodyPr/>
                    <a:lstStyle/>
                    <a:p>
                      <a:pPr algn="l">
                        <a:lnSpc>
                          <a:spcPts val="1679"/>
                        </a:lnSpc>
                        <a:defRPr/>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EE599"/>
                    </a:solidFill>
                  </a:tcPr>
                </a:tc>
                <a:tc gridSpan="2">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hMerge="1">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9"/>
                  </a:ext>
                </a:extLst>
              </a:tr>
            </a:tbl>
          </a:graphicData>
        </a:graphic>
      </p:graphicFrame>
      <p:grpSp>
        <p:nvGrpSpPr>
          <p:cNvPr id="9" name="Group 9"/>
          <p:cNvGrpSpPr/>
          <p:nvPr/>
        </p:nvGrpSpPr>
        <p:grpSpPr>
          <a:xfrm>
            <a:off x="327422" y="140056"/>
            <a:ext cx="605609" cy="767429"/>
            <a:chOff x="0" y="0"/>
            <a:chExt cx="807479" cy="1023239"/>
          </a:xfrm>
        </p:grpSpPr>
        <p:sp>
          <p:nvSpPr>
            <p:cNvPr id="10" name="Freeform 10"/>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5"/>
              <a:stretch>
                <a:fillRect r="-1"/>
              </a:stretch>
            </a:blipFill>
          </p:spPr>
        </p:sp>
      </p:grpSp>
      <p:grpSp>
        <p:nvGrpSpPr>
          <p:cNvPr id="11" name="Group 11"/>
          <p:cNvGrpSpPr/>
          <p:nvPr/>
        </p:nvGrpSpPr>
        <p:grpSpPr>
          <a:xfrm>
            <a:off x="17330528" y="21374"/>
            <a:ext cx="815997" cy="886196"/>
            <a:chOff x="0" y="0"/>
            <a:chExt cx="1087996" cy="1181595"/>
          </a:xfrm>
        </p:grpSpPr>
        <p:sp>
          <p:nvSpPr>
            <p:cNvPr id="12" name="Freeform 12"/>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sp>
        <p:nvSpPr>
          <p:cNvPr id="13" name="TextBox 13"/>
          <p:cNvSpPr txBox="1"/>
          <p:nvPr/>
        </p:nvSpPr>
        <p:spPr>
          <a:xfrm>
            <a:off x="113824" y="1007193"/>
            <a:ext cx="7901654" cy="659921"/>
          </a:xfrm>
          <a:prstGeom prst="rect">
            <a:avLst/>
          </a:prstGeom>
        </p:spPr>
        <p:txBody>
          <a:bodyPr lIns="0" tIns="0" rIns="0" bIns="0" rtlCol="0" anchor="t">
            <a:spAutoFit/>
          </a:bodyPr>
          <a:lstStyle/>
          <a:p>
            <a:pPr algn="l">
              <a:lnSpc>
                <a:spcPts val="4079"/>
              </a:lnSpc>
            </a:pPr>
            <a:r>
              <a:rPr lang="en-US" sz="3399" b="1">
                <a:solidFill>
                  <a:srgbClr val="44546A"/>
                </a:solidFill>
                <a:latin typeface="Calibri (MS) Bold"/>
                <a:ea typeface="Calibri (MS) Bold"/>
                <a:cs typeface="Calibri (MS) Bold"/>
                <a:sym typeface="Calibri (MS) Bold"/>
              </a:rPr>
              <a:t>Relevant Patents</a:t>
            </a:r>
          </a:p>
        </p:txBody>
      </p:sp>
      <p:grpSp>
        <p:nvGrpSpPr>
          <p:cNvPr id="14" name="Group 14"/>
          <p:cNvGrpSpPr/>
          <p:nvPr/>
        </p:nvGrpSpPr>
        <p:grpSpPr>
          <a:xfrm>
            <a:off x="14807355" y="4048"/>
            <a:ext cx="2945997" cy="1000201"/>
            <a:chOff x="0" y="0"/>
            <a:chExt cx="3927996" cy="1333602"/>
          </a:xfrm>
        </p:grpSpPr>
        <p:sp>
          <p:nvSpPr>
            <p:cNvPr id="15" name="Freeform 15"/>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6">
                <a:alphaModFix amt="0"/>
              </a:blip>
              <a:stretch>
                <a:fillRect t="-7391" b="-7391"/>
              </a:stretch>
            </a:blipFill>
          </p:spPr>
        </p:sp>
        <p:sp>
          <p:nvSpPr>
            <p:cNvPr id="16" name="TextBox 16"/>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pSp>
        <p:nvGrpSpPr>
          <p:cNvPr id="17" name="Group 17"/>
          <p:cNvGrpSpPr/>
          <p:nvPr/>
        </p:nvGrpSpPr>
        <p:grpSpPr>
          <a:xfrm>
            <a:off x="1245584" y="21574"/>
            <a:ext cx="13249199" cy="1004402"/>
            <a:chOff x="0" y="0"/>
            <a:chExt cx="17665598" cy="1339202"/>
          </a:xfrm>
        </p:grpSpPr>
        <p:sp>
          <p:nvSpPr>
            <p:cNvPr id="18" name="Freeform 18"/>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6">
                <a:alphaModFix amt="0"/>
              </a:blip>
              <a:stretch>
                <a:fillRect t="-207030" b="-207030"/>
              </a:stretch>
            </a:blipFill>
          </p:spPr>
        </p:sp>
        <p:sp>
          <p:nvSpPr>
            <p:cNvPr id="19" name="TextBox 19"/>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Prior Art</a:t>
              </a:r>
            </a:p>
          </p:txBody>
        </p:sp>
      </p:grpSp>
      <p:grpSp>
        <p:nvGrpSpPr>
          <p:cNvPr id="20" name="Group 20"/>
          <p:cNvGrpSpPr/>
          <p:nvPr/>
        </p:nvGrpSpPr>
        <p:grpSpPr>
          <a:xfrm>
            <a:off x="355185" y="9014381"/>
            <a:ext cx="17654292" cy="1633747"/>
            <a:chOff x="0" y="0"/>
            <a:chExt cx="23539056" cy="2178329"/>
          </a:xfrm>
        </p:grpSpPr>
        <p:sp>
          <p:nvSpPr>
            <p:cNvPr id="21" name="Freeform 21"/>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2" name="Freeform 22"/>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3" name="Freeform 23"/>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4" name="Freeform 24"/>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5" name="Freeform 25"/>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6" name="Freeform 26"/>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7" name="Freeform 27"/>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8" name="Freeform 28"/>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327422" y="140056"/>
            <a:ext cx="605609" cy="767429"/>
            <a:chOff x="0" y="0"/>
            <a:chExt cx="807479" cy="1023239"/>
          </a:xfrm>
        </p:grpSpPr>
        <p:sp>
          <p:nvSpPr>
            <p:cNvPr id="9" name="Freeform 9"/>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5"/>
              <a:stretch>
                <a:fillRect r="-1"/>
              </a:stretch>
            </a:blipFill>
          </p:spPr>
        </p:sp>
      </p:grpSp>
      <p:grpSp>
        <p:nvGrpSpPr>
          <p:cNvPr id="10" name="Group 10"/>
          <p:cNvGrpSpPr/>
          <p:nvPr/>
        </p:nvGrpSpPr>
        <p:grpSpPr>
          <a:xfrm>
            <a:off x="17330528" y="21374"/>
            <a:ext cx="815997" cy="886196"/>
            <a:chOff x="0" y="0"/>
            <a:chExt cx="1087996" cy="1181595"/>
          </a:xfrm>
        </p:grpSpPr>
        <p:sp>
          <p:nvSpPr>
            <p:cNvPr id="11" name="Freeform 11"/>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2" name="Group 12"/>
          <p:cNvGrpSpPr/>
          <p:nvPr/>
        </p:nvGrpSpPr>
        <p:grpSpPr>
          <a:xfrm>
            <a:off x="1219200" y="1953"/>
            <a:ext cx="13038601" cy="1004402"/>
            <a:chOff x="0" y="0"/>
            <a:chExt cx="17384801" cy="1339202"/>
          </a:xfrm>
        </p:grpSpPr>
        <p:sp>
          <p:nvSpPr>
            <p:cNvPr id="13" name="Freeform 13"/>
            <p:cNvSpPr/>
            <p:nvPr/>
          </p:nvSpPr>
          <p:spPr>
            <a:xfrm>
              <a:off x="0" y="0"/>
              <a:ext cx="17384801" cy="1339200"/>
            </a:xfrm>
            <a:custGeom>
              <a:avLst/>
              <a:gdLst/>
              <a:ahLst/>
              <a:cxnLst/>
              <a:rect l="l" t="t" r="r" b="b"/>
              <a:pathLst>
                <a:path w="17384801" h="1339200">
                  <a:moveTo>
                    <a:pt x="0" y="0"/>
                  </a:moveTo>
                  <a:lnTo>
                    <a:pt x="17384801" y="0"/>
                  </a:lnTo>
                  <a:lnTo>
                    <a:pt x="17384801" y="1339200"/>
                  </a:lnTo>
                  <a:lnTo>
                    <a:pt x="0" y="1339200"/>
                  </a:lnTo>
                  <a:close/>
                </a:path>
              </a:pathLst>
            </a:custGeom>
            <a:blipFill>
              <a:blip r:embed="rId6">
                <a:alphaModFix amt="0"/>
              </a:blip>
              <a:stretch>
                <a:fillRect t="-202944" b="-202944"/>
              </a:stretch>
            </a:blipFill>
          </p:spPr>
        </p:sp>
        <p:sp>
          <p:nvSpPr>
            <p:cNvPr id="14" name="TextBox 14"/>
            <p:cNvSpPr txBox="1"/>
            <p:nvPr/>
          </p:nvSpPr>
          <p:spPr>
            <a:xfrm>
              <a:off x="0" y="-85725"/>
              <a:ext cx="17384801"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Applicable Regulatory standards</a:t>
              </a:r>
            </a:p>
          </p:txBody>
        </p:sp>
      </p:grpSp>
      <p:grpSp>
        <p:nvGrpSpPr>
          <p:cNvPr id="15" name="Group 15"/>
          <p:cNvGrpSpPr/>
          <p:nvPr/>
        </p:nvGrpSpPr>
        <p:grpSpPr>
          <a:xfrm>
            <a:off x="14807355" y="4048"/>
            <a:ext cx="2945997" cy="1000201"/>
            <a:chOff x="0" y="0"/>
            <a:chExt cx="3927996" cy="1333602"/>
          </a:xfrm>
        </p:grpSpPr>
        <p:sp>
          <p:nvSpPr>
            <p:cNvPr id="16" name="Freeform 16"/>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6">
                <a:alphaModFix amt="0"/>
              </a:blip>
              <a:stretch>
                <a:fillRect t="-7391" b="-7391"/>
              </a:stretch>
            </a:blipFill>
          </p:spPr>
        </p:sp>
        <p:sp>
          <p:nvSpPr>
            <p:cNvPr id="17" name="TextBox 17"/>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aphicFrame>
        <p:nvGraphicFramePr>
          <p:cNvPr id="18" name="Table 18"/>
          <p:cNvGraphicFramePr>
            <a:graphicFrameLocks noGrp="1"/>
          </p:cNvGraphicFramePr>
          <p:nvPr/>
        </p:nvGraphicFramePr>
        <p:xfrm>
          <a:off x="192506" y="1303100"/>
          <a:ext cx="17881600" cy="7659287"/>
        </p:xfrm>
        <a:graphic>
          <a:graphicData uri="http://schemas.openxmlformats.org/drawingml/2006/table">
            <a:tbl>
              <a:tblPr/>
              <a:tblGrid>
                <a:gridCol w="746308">
                  <a:extLst>
                    <a:ext uri="{9D8B030D-6E8A-4147-A177-3AD203B41FA5}">
                      <a16:colId xmlns:a16="http://schemas.microsoft.com/office/drawing/2014/main" val="20000"/>
                    </a:ext>
                  </a:extLst>
                </a:gridCol>
                <a:gridCol w="3705860">
                  <a:extLst>
                    <a:ext uri="{9D8B030D-6E8A-4147-A177-3AD203B41FA5}">
                      <a16:colId xmlns:a16="http://schemas.microsoft.com/office/drawing/2014/main" val="20001"/>
                    </a:ext>
                  </a:extLst>
                </a:gridCol>
                <a:gridCol w="8327728">
                  <a:extLst>
                    <a:ext uri="{9D8B030D-6E8A-4147-A177-3AD203B41FA5}">
                      <a16:colId xmlns:a16="http://schemas.microsoft.com/office/drawing/2014/main" val="20002"/>
                    </a:ext>
                  </a:extLst>
                </a:gridCol>
                <a:gridCol w="5101704">
                  <a:extLst>
                    <a:ext uri="{9D8B030D-6E8A-4147-A177-3AD203B41FA5}">
                      <a16:colId xmlns:a16="http://schemas.microsoft.com/office/drawing/2014/main" val="20003"/>
                    </a:ext>
                  </a:extLst>
                </a:gridCol>
              </a:tblGrid>
              <a:tr h="838722">
                <a:tc>
                  <a:txBody>
                    <a:bodyPr/>
                    <a:lstStyle/>
                    <a:p>
                      <a:pPr algn="l">
                        <a:lnSpc>
                          <a:spcPts val="3840"/>
                        </a:lnSpc>
                        <a:defRPr/>
                      </a:pPr>
                      <a:r>
                        <a:rPr lang="en-US" sz="3200" b="1">
                          <a:solidFill>
                            <a:srgbClr val="FFFFFF"/>
                          </a:solidFill>
                          <a:latin typeface="Calibri (MS) Bold"/>
                          <a:ea typeface="Calibri (MS) Bold"/>
                          <a:cs typeface="Calibri (MS) Bold"/>
                          <a:sym typeface="Calibri (MS) Bold"/>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546A"/>
                    </a:solidFill>
                  </a:tcPr>
                </a:tc>
                <a:tc>
                  <a:txBody>
                    <a:bodyPr/>
                    <a:lstStyle/>
                    <a:p>
                      <a:pPr algn="l">
                        <a:lnSpc>
                          <a:spcPts val="3359"/>
                        </a:lnSpc>
                        <a:defRPr/>
                      </a:pPr>
                      <a:r>
                        <a:rPr lang="en-US" sz="2799">
                          <a:solidFill>
                            <a:srgbClr val="FFFFFF"/>
                          </a:solidFill>
                          <a:latin typeface="Calibri (MS)"/>
                          <a:ea typeface="Calibri (MS)"/>
                          <a:cs typeface="Calibri (MS)"/>
                          <a:sym typeface="Calibri (MS)"/>
                        </a:rPr>
                        <a:t>Standard No. </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546A"/>
                    </a:solidFill>
                  </a:tcPr>
                </a:tc>
                <a:tc>
                  <a:txBody>
                    <a:bodyPr/>
                    <a:lstStyle/>
                    <a:p>
                      <a:pPr algn="l">
                        <a:lnSpc>
                          <a:spcPts val="3359"/>
                        </a:lnSpc>
                        <a:defRPr/>
                      </a:pPr>
                      <a:r>
                        <a:rPr lang="en-US" sz="2799">
                          <a:solidFill>
                            <a:srgbClr val="FFFFFF"/>
                          </a:solidFill>
                          <a:latin typeface="Calibri (MS)"/>
                          <a:ea typeface="Calibri (MS)"/>
                          <a:cs typeface="Calibri (MS)"/>
                          <a:sym typeface="Calibri (MS)"/>
                        </a:rPr>
                        <a:t>Title of the Standard</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546A"/>
                    </a:solidFill>
                  </a:tcPr>
                </a:tc>
                <a:tc>
                  <a:txBody>
                    <a:bodyPr/>
                    <a:lstStyle/>
                    <a:p>
                      <a:pPr algn="l">
                        <a:lnSpc>
                          <a:spcPts val="3359"/>
                        </a:lnSpc>
                        <a:defRPr/>
                      </a:pPr>
                      <a:r>
                        <a:rPr lang="en-US" sz="2799">
                          <a:solidFill>
                            <a:srgbClr val="FFFFFF"/>
                          </a:solidFill>
                          <a:latin typeface="Calibri (MS)"/>
                          <a:ea typeface="Calibri (MS)"/>
                          <a:cs typeface="Calibri (MS)"/>
                          <a:sym typeface="Calibri (MS)"/>
                        </a:rPr>
                        <a:t>Purpose</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92925">
                <a:tc>
                  <a:txBody>
                    <a:bodyPr/>
                    <a:lstStyle/>
                    <a:p>
                      <a:pPr algn="l">
                        <a:lnSpc>
                          <a:spcPts val="1679"/>
                        </a:lnSpc>
                        <a:defRPr/>
                      </a:pPr>
                      <a:r>
                        <a:rPr sz="1000" b="0">
                          <a:solidFill>
                            <a:srgbClr val="000000"/>
                          </a:solidFill>
                          <a:latin typeface="Arial"/>
                        </a:rPr>
                        <a:t>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1000" b="1">
                          <a:solidFill>
                            <a:srgbClr val="000000"/>
                          </a:solidFill>
                          <a:latin typeface="Arial"/>
                        </a:rPr>
                        <a:t>IEC 60601-1:2020 (IS 13450:2024, India)</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Medical electrical equipment — general requirements for basic safety and essential performance</a:t>
                      </a:r>
                      <a:endParaRPr lang="en-US" sz="1100"/>
                    </a:p>
                  </a:txBody>
                  <a:tcPr marL="91425" marR="91425" marT="91425" marB="91425">
                    <a:lnL w="4762" cap="flat" cmpd="sng" algn="ctr">
                      <a:solidFill>
                        <a:srgbClr val="000000"/>
                      </a:solidFill>
                      <a:prstDash val="solid"/>
                      <a:round/>
                      <a:headEnd type="none" w="med" len="med"/>
                      <a:tailEnd type="none" w="med" len="med"/>
                    </a:lnL>
                    <a:lnR w="9525" cap="flat" cmpd="sng" algn="ctr">
                      <a:solidFill>
                        <a:srgbClr val="9E9E9E"/>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Ensures the probe and its charging base are electrically and mechanically safe for patient and operator use</a:t>
                      </a:r>
                      <a:endParaRPr lang="en-US" sz="1100"/>
                    </a:p>
                  </a:txBody>
                  <a:tcPr marL="91425" marR="91425" marT="91425" marB="91425">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E0E0E0"/>
                    </a:solidFill>
                  </a:tcPr>
                </a:tc>
                <a:extLst>
                  <a:ext uri="{0D108BD9-81ED-4DB2-BD59-A6C34878D82A}">
                    <a16:rowId xmlns:a16="http://schemas.microsoft.com/office/drawing/2014/main" val="10001"/>
                  </a:ext>
                </a:extLst>
              </a:tr>
              <a:tr h="692925">
                <a:tc>
                  <a:txBody>
                    <a:bodyPr/>
                    <a:lstStyle/>
                    <a:p>
                      <a:pPr algn="l">
                        <a:lnSpc>
                          <a:spcPts val="1679"/>
                        </a:lnSpc>
                        <a:defRPr/>
                      </a:pPr>
                      <a:r>
                        <a:rPr sz="1000" b="0">
                          <a:solidFill>
                            <a:srgbClr val="000000"/>
                          </a:solidFill>
                          <a:latin typeface="Arial"/>
                        </a:rPr>
                        <a:t>2</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1000" b="1">
                          <a:solidFill>
                            <a:srgbClr val="000000"/>
                          </a:solidFill>
                          <a:latin typeface="Arial"/>
                        </a:rPr>
                        <a:t>IEC 60601-1-2:2020 (Ed. 4.1)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Collateral standard — electromagnetic compatibility (EMC)</a:t>
                      </a:r>
                      <a:endParaRPr lang="en-US" sz="1100"/>
                    </a:p>
                  </a:txBody>
                  <a:tcPr marL="91425" marR="91425" marT="91425" marB="91425">
                    <a:lnL w="4762" cap="flat" cmpd="sng" algn="ctr">
                      <a:solidFill>
                        <a:srgbClr val="000000"/>
                      </a:solidFill>
                      <a:prstDash val="solid"/>
                      <a:round/>
                      <a:headEnd type="none" w="med" len="med"/>
                      <a:tailEnd type="none" w="med" len="med"/>
                    </a:lnL>
                    <a:lnR w="9525" cap="flat" cmpd="sng" algn="ctr">
                      <a:solidFill>
                        <a:srgbClr val="9E9E9E"/>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00" b="0">
                          <a:solidFill>
                            <a:srgbClr val="000000"/>
                          </a:solidFill>
                          <a:latin typeface="Arial"/>
                        </a:rPr>
                        <a:t>Confirms the device neither emits nor is disrupted by electromagnetic interference from other hospital equipment</a:t>
                      </a:r>
                      <a:endParaRPr lang="en-US" sz="1100"/>
                    </a:p>
                  </a:txBody>
                  <a:tcPr marL="91425" marR="91425" marT="91425" marB="91425">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692925">
                <a:tc>
                  <a:txBody>
                    <a:bodyPr/>
                    <a:lstStyle/>
                    <a:p>
                      <a:pPr algn="l">
                        <a:lnSpc>
                          <a:spcPts val="1679"/>
                        </a:lnSpc>
                        <a:defRPr/>
                      </a:pPr>
                      <a:r>
                        <a:rPr sz="1000" b="0">
                          <a:solidFill>
                            <a:srgbClr val="000000"/>
                          </a:solidFill>
                          <a:latin typeface="Arial"/>
                        </a:rPr>
                        <a:t>3</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1000" b="1">
                          <a:solidFill>
                            <a:srgbClr val="000000"/>
                          </a:solidFill>
                          <a:latin typeface="Arial"/>
                        </a:rPr>
                        <a:t>IEC 60601-1-11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Collateral standard — home healthcare environment</a:t>
                      </a:r>
                      <a:endParaRPr lang="en-US" sz="1100"/>
                    </a:p>
                  </a:txBody>
                  <a:tcPr marL="91425" marR="91425" marT="91425" marB="91425">
                    <a:lnL w="4762" cap="flat" cmpd="sng" algn="ctr">
                      <a:solidFill>
                        <a:srgbClr val="000000"/>
                      </a:solidFill>
                      <a:prstDash val="solid"/>
                      <a:round/>
                      <a:headEnd type="none" w="med" len="med"/>
                      <a:tailEnd type="none" w="med" len="med"/>
                    </a:lnL>
                    <a:lnR w="9525" cap="flat" cmpd="sng" algn="ctr">
                      <a:solidFill>
                        <a:srgbClr val="9E9E9E"/>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Covers safe operation outside hospitals, relevant for community/PHC and home-visit use</a:t>
                      </a:r>
                      <a:endParaRPr lang="en-US" sz="1100"/>
                    </a:p>
                  </a:txBody>
                  <a:tcPr marL="91425" marR="91425" marT="91425" marB="91425">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E0E0E0"/>
                    </a:solidFill>
                  </a:tcPr>
                </a:tc>
                <a:extLst>
                  <a:ext uri="{0D108BD9-81ED-4DB2-BD59-A6C34878D82A}">
                    <a16:rowId xmlns:a16="http://schemas.microsoft.com/office/drawing/2014/main" val="10003"/>
                  </a:ext>
                </a:extLst>
              </a:tr>
              <a:tr h="677588">
                <a:tc>
                  <a:txBody>
                    <a:bodyPr/>
                    <a:lstStyle/>
                    <a:p>
                      <a:pPr algn="l">
                        <a:lnSpc>
                          <a:spcPts val="1679"/>
                        </a:lnSpc>
                        <a:defRPr/>
                      </a:pPr>
                      <a:r>
                        <a:rPr sz="1000" b="0">
                          <a:solidFill>
                            <a:srgbClr val="000000"/>
                          </a:solidFill>
                          <a:latin typeface="Arial"/>
                        </a:rPr>
                        <a:t>4</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1000" b="1">
                          <a:solidFill>
                            <a:srgbClr val="000000"/>
                          </a:solidFill>
                          <a:latin typeface="Arial"/>
                        </a:rPr>
                        <a:t>ISO 14971:2019</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Application of risk management to medical devices</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00" b="0">
                          <a:solidFill>
                            <a:srgbClr val="000000"/>
                          </a:solidFill>
                          <a:latin typeface="Arial"/>
                        </a:rPr>
                        <a:t>Provides the structured hazard-identification and risk-control process followed across the design lifecycle</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9525" cap="flat" cmpd="sng" algn="ctr">
                      <a:solidFill>
                        <a:srgbClr val="9E9E9E"/>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r h="662252">
                <a:tc>
                  <a:txBody>
                    <a:bodyPr/>
                    <a:lstStyle/>
                    <a:p>
                      <a:pPr algn="l">
                        <a:lnSpc>
                          <a:spcPts val="1679"/>
                        </a:lnSpc>
                        <a:defRPr/>
                      </a:pPr>
                      <a:r>
                        <a:rPr sz="1000" b="0">
                          <a:solidFill>
                            <a:srgbClr val="000000"/>
                          </a:solidFill>
                          <a:latin typeface="Arial"/>
                        </a:rPr>
                        <a:t>5</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1000" b="1">
                          <a:solidFill>
                            <a:srgbClr val="000000"/>
                          </a:solidFill>
                          <a:latin typeface="Arial"/>
                        </a:rPr>
                        <a:t>ISO 10993-1 / -5 / -10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50" b="0">
                          <a:solidFill>
                            <a:srgbClr val="000000"/>
                          </a:solidFill>
                          <a:latin typeface="Arial"/>
                        </a:rPr>
                        <a:t>Biological evaluation of medical devices</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Confirms the neonatal skin-contact probe tip is non-cytotoxic and non-irritating</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5"/>
                  </a:ext>
                </a:extLst>
              </a:tr>
              <a:tr h="662252">
                <a:tc>
                  <a:txBody>
                    <a:bodyPr/>
                    <a:lstStyle/>
                    <a:p>
                      <a:pPr algn="l">
                        <a:lnSpc>
                          <a:spcPts val="1679"/>
                        </a:lnSpc>
                        <a:defRPr/>
                      </a:pPr>
                      <a:r>
                        <a:rPr sz="1000" b="0">
                          <a:solidFill>
                            <a:srgbClr val="000000"/>
                          </a:solidFill>
                          <a:latin typeface="Arial"/>
                        </a:rPr>
                        <a:t>6</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1000" b="1">
                          <a:solidFill>
                            <a:srgbClr val="000000"/>
                          </a:solidFill>
                          <a:latin typeface="Arial"/>
                        </a:rPr>
                        <a:t>IEC 62304</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Medical device software life-cycle processes</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00" b="0">
                          <a:solidFill>
                            <a:srgbClr val="000000"/>
                          </a:solidFill>
                          <a:latin typeface="Arial"/>
                        </a:rPr>
                        <a:t>Governs safety classification, verification and documentation of the firmware and bilirubin-estimation algorithm</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6"/>
                  </a:ext>
                </a:extLst>
              </a:tr>
              <a:tr h="662252">
                <a:tc>
                  <a:txBody>
                    <a:bodyPr/>
                    <a:lstStyle/>
                    <a:p>
                      <a:pPr algn="l">
                        <a:lnSpc>
                          <a:spcPts val="1679"/>
                        </a:lnSpc>
                        <a:defRPr/>
                      </a:pPr>
                      <a:r>
                        <a:rPr sz="1000" b="0">
                          <a:solidFill>
                            <a:srgbClr val="000000"/>
                          </a:solidFill>
                          <a:latin typeface="Arial"/>
                        </a:rPr>
                        <a:t>7</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1000" b="1">
                          <a:solidFill>
                            <a:srgbClr val="000000"/>
                          </a:solidFill>
                          <a:latin typeface="Arial"/>
                        </a:rPr>
                        <a:t>IEC 62366-1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50" b="0">
                          <a:solidFill>
                            <a:srgbClr val="000000"/>
                          </a:solidFill>
                          <a:latin typeface="Arial"/>
                        </a:rPr>
                        <a:t>Usability engineering for medical devices</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900" b="0">
                          <a:solidFill>
                            <a:srgbClr val="000000"/>
                          </a:solidFill>
                          <a:latin typeface="Arial"/>
                        </a:rPr>
                        <a:t>Ensures safe, error-resistant operation by nurses and community health workers with minimal training</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7"/>
                  </a:ext>
                </a:extLst>
              </a:tr>
              <a:tr h="752943">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546A"/>
                    </a:solidFill>
                  </a:tcPr>
                </a:tc>
                <a:tc gridSpan="3">
                  <a:txBody>
                    <a:bodyPr/>
                    <a:lstStyle/>
                    <a:p>
                      <a:pPr algn="l">
                        <a:lnSpc>
                          <a:spcPts val="3359"/>
                        </a:lnSpc>
                        <a:defRPr/>
                      </a:pPr>
                      <a:r>
                        <a:rPr lang="en-US" sz="2799">
                          <a:solidFill>
                            <a:srgbClr val="FFFFFF"/>
                          </a:solidFill>
                          <a:latin typeface="Calibri (MS)"/>
                          <a:ea typeface="Calibri (MS)"/>
                          <a:cs typeface="Calibri (MS)"/>
                          <a:sym typeface="Calibri (MS)"/>
                        </a:rPr>
                        <a:t>Available Testing Labs</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546A"/>
                    </a:solidFill>
                  </a:tcPr>
                </a:tc>
                <a:tc hMerge="1">
                  <a:txBody>
                    <a:bodyPr/>
                    <a:lstStyle/>
                    <a:p>
                      <a:pPr algn="l">
                        <a:lnSpc>
                          <a:spcPts val="3359"/>
                        </a:lnSpc>
                        <a:defRPr/>
                      </a:pPr>
                      <a:r>
                        <a:rPr lang="en-US" sz="2799">
                          <a:solidFill>
                            <a:srgbClr val="FFFFFF"/>
                          </a:solidFill>
                          <a:latin typeface="Calibri (MS)"/>
                          <a:ea typeface="Calibri (MS)"/>
                          <a:cs typeface="Calibri (MS)"/>
                          <a:sym typeface="Calibri (MS)"/>
                        </a:rPr>
                        <a:t>Available Testing Labs</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546A"/>
                    </a:solidFill>
                  </a:tcPr>
                </a:tc>
                <a:tc hMerge="1">
                  <a:txBody>
                    <a:bodyPr/>
                    <a:lstStyle/>
                    <a:p>
                      <a:pPr algn="l">
                        <a:lnSpc>
                          <a:spcPts val="3359"/>
                        </a:lnSpc>
                        <a:defRPr/>
                      </a:pPr>
                      <a:r>
                        <a:rPr lang="en-US" sz="2799">
                          <a:solidFill>
                            <a:srgbClr val="FFFFFF"/>
                          </a:solidFill>
                          <a:latin typeface="Calibri (MS)"/>
                          <a:ea typeface="Calibri (MS)"/>
                          <a:cs typeface="Calibri (MS)"/>
                          <a:sym typeface="Calibri (MS)"/>
                        </a:rPr>
                        <a:t>Available Testing Labs</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44546A"/>
                    </a:solidFill>
                  </a:tcPr>
                </a:tc>
                <a:extLst>
                  <a:ext uri="{0D108BD9-81ED-4DB2-BD59-A6C34878D82A}">
                    <a16:rowId xmlns:a16="http://schemas.microsoft.com/office/drawing/2014/main" val="10008"/>
                  </a:ext>
                </a:extLst>
              </a:tr>
              <a:tr h="662252">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gridSpan="3">
                  <a:txBody>
                    <a:bodyPr/>
                    <a:lstStyle/>
                    <a:p>
                      <a:pPr algn="l">
                        <a:lnSpc>
                          <a:spcPts val="1679"/>
                        </a:lnSpc>
                        <a:defRPr/>
                      </a:pPr>
                      <a:r>
                        <a:rPr sz="950">
                          <a:solidFill>
                            <a:srgbClr val="000000"/>
                          </a:solidFill>
                          <a:latin typeface="Arial"/>
                        </a:rPr>
                        <a:t>NABL/BIS-accredited electrical-safety &amp; EMC labs (e.g. ERTL, STQC, Intertek India, Astute Labs)</a:t>
                      </a:r>
                      <a:endParaRPr lang="en-US" sz="1100"/>
                    </a:p>
                    <a:p>
                      <a:r>
                        <a:rPr sz="950">
                          <a:solidFill>
                            <a:srgbClr val="000000"/>
                          </a:solidFill>
                          <a:latin typeface="Arial"/>
                        </a:rPr>
                        <a:t>ISO 10993-accredited biocompatibility &amp; sterilization testing labs</a:t>
                      </a: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hMerge="1">
                  <a:txBody>
                    <a:bodyPr/>
                    <a:lstStyle/>
                    <a:p>
                      <a:pPr algn="l">
                        <a:lnSpc>
                          <a:spcPts val="1679"/>
                        </a:lnSpc>
                        <a:defRPr/>
                      </a:pPr>
                      <a:r>
                        <a:rPr sz="950" b="0">
                          <a:solidFill>
                            <a:srgbClr val="000000"/>
                          </a:solidFill>
                          <a:latin typeface="Arial"/>
                        </a:rPr>
                        <a:t>Biocompatibility &amp; sterilization testing labs (ISO 10993-accredited)</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hMerge="1">
                  <a:txBody>
                    <a:bodyPr/>
                    <a:lstStyle/>
                    <a:p>
                      <a:pPr algn="l">
                        <a:lnSpc>
                          <a:spcPts val="1679"/>
                        </a:lnSpc>
                        <a:defRPr/>
                      </a:pPr>
                      <a:r>
                        <a:rPr sz="950" b="0">
                          <a:solidFill>
                            <a:srgbClr val="000000"/>
                          </a:solidFill>
                          <a:latin typeface="Arial"/>
                        </a:rPr>
                        <a:t>Partner NICU/postnatal ward for clinical correlation study vs. laboratory TSB</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9"/>
                  </a:ext>
                </a:extLst>
              </a:tr>
              <a:tr h="662252">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gridSpan="3">
                  <a:txBody>
                    <a:bodyPr/>
                    <a:lstStyle/>
                    <a:p>
                      <a:pPr algn="l">
                        <a:lnSpc>
                          <a:spcPts val="1679"/>
                        </a:lnSpc>
                        <a:defRPr/>
                      </a:pPr>
                      <a:r>
                        <a:rPr sz="950">
                          <a:solidFill>
                            <a:srgbClr val="000000"/>
                          </a:solidFill>
                          <a:latin typeface="Arial"/>
                        </a:rPr>
                        <a:t>Partner NICU/postnatal ward for clinical correlation study vs. laboratory total serum bilirubin (TSB)</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hMerge="1">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tc hMerge="1">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10"/>
                  </a:ext>
                </a:extLst>
              </a:tr>
            </a:tbl>
          </a:graphicData>
        </a:graphic>
      </p:graphicFrame>
      <p:grpSp>
        <p:nvGrpSpPr>
          <p:cNvPr id="19" name="Group 19"/>
          <p:cNvGrpSpPr/>
          <p:nvPr/>
        </p:nvGrpSpPr>
        <p:grpSpPr>
          <a:xfrm>
            <a:off x="355185" y="9014381"/>
            <a:ext cx="17654292" cy="1633747"/>
            <a:chOff x="0" y="0"/>
            <a:chExt cx="23539056" cy="2178329"/>
          </a:xfrm>
        </p:grpSpPr>
        <p:sp>
          <p:nvSpPr>
            <p:cNvPr id="20" name="Freeform 20"/>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1" name="Freeform 21"/>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2" name="Freeform 22"/>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3" name="Freeform 23"/>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4" name="Freeform 24"/>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5" name="Freeform 25"/>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6" name="Freeform 26"/>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7" name="Freeform 27"/>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7925"/>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Need &amp; Market Analysis</a:t>
              </a:r>
            </a:p>
          </p:txBody>
        </p:sp>
      </p:grpSp>
      <p:grpSp>
        <p:nvGrpSpPr>
          <p:cNvPr id="11" name="Group 11"/>
          <p:cNvGrpSpPr/>
          <p:nvPr/>
        </p:nvGrpSpPr>
        <p:grpSpPr>
          <a:xfrm>
            <a:off x="327422" y="140056"/>
            <a:ext cx="605609" cy="767429"/>
            <a:chOff x="0" y="0"/>
            <a:chExt cx="807479" cy="1023239"/>
          </a:xfrm>
        </p:grpSpPr>
        <p:sp>
          <p:nvSpPr>
            <p:cNvPr id="12" name="Freeform 12"/>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3" name="Group 13"/>
          <p:cNvGrpSpPr/>
          <p:nvPr/>
        </p:nvGrpSpPr>
        <p:grpSpPr>
          <a:xfrm>
            <a:off x="17330528" y="21374"/>
            <a:ext cx="815997" cy="886196"/>
            <a:chOff x="0" y="0"/>
            <a:chExt cx="1087996" cy="1181595"/>
          </a:xfrm>
        </p:grpSpPr>
        <p:sp>
          <p:nvSpPr>
            <p:cNvPr id="14" name="Freeform 14"/>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5" name="Group 15"/>
          <p:cNvGrpSpPr/>
          <p:nvPr/>
        </p:nvGrpSpPr>
        <p:grpSpPr>
          <a:xfrm>
            <a:off x="14807355" y="4048"/>
            <a:ext cx="2945997" cy="1000201"/>
            <a:chOff x="0" y="0"/>
            <a:chExt cx="3927996" cy="1333602"/>
          </a:xfrm>
        </p:grpSpPr>
        <p:sp>
          <p:nvSpPr>
            <p:cNvPr id="16" name="Freeform 16"/>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7" name="TextBox 17"/>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aphicFrame>
        <p:nvGraphicFramePr>
          <p:cNvPr id="18" name="Table 18"/>
          <p:cNvGraphicFramePr>
            <a:graphicFrameLocks noGrp="1"/>
          </p:cNvGraphicFramePr>
          <p:nvPr/>
        </p:nvGraphicFramePr>
        <p:xfrm>
          <a:off x="45244" y="1164728"/>
          <a:ext cx="17678400" cy="4191000"/>
        </p:xfrm>
        <a:graphic>
          <a:graphicData uri="http://schemas.openxmlformats.org/drawingml/2006/table">
            <a:tbl>
              <a:tblPr/>
              <a:tblGrid>
                <a:gridCol w="1347476">
                  <a:extLst>
                    <a:ext uri="{9D8B030D-6E8A-4147-A177-3AD203B41FA5}">
                      <a16:colId xmlns:a16="http://schemas.microsoft.com/office/drawing/2014/main" val="20000"/>
                    </a:ext>
                  </a:extLst>
                </a:gridCol>
                <a:gridCol w="16330924">
                  <a:extLst>
                    <a:ext uri="{9D8B030D-6E8A-4147-A177-3AD203B41FA5}">
                      <a16:colId xmlns:a16="http://schemas.microsoft.com/office/drawing/2014/main" val="20001"/>
                    </a:ext>
                  </a:extLst>
                </a:gridCol>
              </a:tblGrid>
              <a:tr h="687321">
                <a:tc>
                  <a:txBody>
                    <a:bodyPr/>
                    <a:lstStyle/>
                    <a:p>
                      <a:pPr algn="l">
                        <a:lnSpc>
                          <a:spcPts val="3840"/>
                        </a:lnSpc>
                        <a:defRPr/>
                      </a:pPr>
                      <a:r>
                        <a:rPr lang="en-US" sz="3200">
                          <a:solidFill>
                            <a:srgbClr val="FFFFFF"/>
                          </a:solidFill>
                          <a:latin typeface="Arial"/>
                          <a:ea typeface="Arial"/>
                          <a:cs typeface="Arial"/>
                          <a:sym typeface="Arial"/>
                        </a:rPr>
                        <a: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Market Size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3503679">
                <a:tc>
                  <a:txBody>
                    <a:bodyPr/>
                    <a:lstStyle/>
                    <a:p>
                      <a:pPr algn="l">
                        <a:lnSpc>
                          <a:spcPts val="1679"/>
                        </a:lnSpc>
                        <a:defRPr/>
                      </a:pPr>
                      <a:r>
                        <a:rPr sz="1100" b="0">
                          <a:solidFill>
                            <a:srgbClr val="000000"/>
                          </a:solidFill>
                          <a:latin typeface="Arial"/>
                        </a:rPr>
                        <a:t>1</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200" b="0">
                          <a:solidFill>
                            <a:srgbClr val="000000"/>
                          </a:solidFill>
                          <a:latin typeface="Arial"/>
                        </a:rPr>
                        <a:t>The global bilirubin-meter market was valued at roughly US$1.3 billion in 2024 and is projected to reach about US$1.9 billion by 2030 (~6.8% CAGR); the transcutaneous-bilirubinometer segment alone is growing at ~4.3% CAGR. India registers about 23–24 million births a year, and roughly 60% of term and 80% of preterm newborns develop visible jaundice, creating a large, largely unmet demand for affordable screening at primary health centres and in home-visit settings.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bl>
          </a:graphicData>
        </a:graphic>
      </p:graphicFrame>
      <p:graphicFrame>
        <p:nvGraphicFramePr>
          <p:cNvPr id="19" name="Table 19"/>
          <p:cNvGraphicFramePr>
            <a:graphicFrameLocks noGrp="1"/>
          </p:cNvGraphicFramePr>
          <p:nvPr/>
        </p:nvGraphicFramePr>
        <p:xfrm>
          <a:off x="63394" y="5520678"/>
          <a:ext cx="17678400" cy="3108637"/>
        </p:xfrm>
        <a:graphic>
          <a:graphicData uri="http://schemas.openxmlformats.org/drawingml/2006/table">
            <a:tbl>
              <a:tblPr/>
              <a:tblGrid>
                <a:gridCol w="1314906">
                  <a:extLst>
                    <a:ext uri="{9D8B030D-6E8A-4147-A177-3AD203B41FA5}">
                      <a16:colId xmlns:a16="http://schemas.microsoft.com/office/drawing/2014/main" val="20000"/>
                    </a:ext>
                  </a:extLst>
                </a:gridCol>
                <a:gridCol w="16363494">
                  <a:extLst>
                    <a:ext uri="{9D8B030D-6E8A-4147-A177-3AD203B41FA5}">
                      <a16:colId xmlns:a16="http://schemas.microsoft.com/office/drawing/2014/main" val="20001"/>
                    </a:ext>
                  </a:extLst>
                </a:gridCol>
              </a:tblGrid>
              <a:tr h="822089">
                <a:tc>
                  <a:txBody>
                    <a:bodyPr/>
                    <a:lstStyle/>
                    <a:p>
                      <a:pPr algn="l">
                        <a:lnSpc>
                          <a:spcPts val="3600"/>
                        </a:lnSpc>
                        <a:defRPr/>
                      </a:pPr>
                      <a:r>
                        <a:rPr lang="en-US" sz="3000">
                          <a:solidFill>
                            <a:srgbClr val="FFFFFF"/>
                          </a:solidFill>
                          <a:latin typeface="Arial"/>
                          <a:ea typeface="Arial"/>
                          <a:cs typeface="Arial"/>
                          <a:sym typeface="Arial"/>
                        </a:rPr>
                        <a: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Gaps in the Existing Solutions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2286549">
                <a:tc>
                  <a:txBody>
                    <a:bodyPr/>
                    <a:lstStyle/>
                    <a:p>
                      <a:pPr algn="l">
                        <a:lnSpc>
                          <a:spcPts val="1679"/>
                        </a:lnSpc>
                        <a:defRPr/>
                      </a:pPr>
                      <a:r>
                        <a:rPr sz="1100" b="0">
                          <a:solidFill>
                            <a:srgbClr val="000000"/>
                          </a:solidFill>
                          <a:latin typeface="Arial"/>
                        </a:rPr>
                        <a:t>1</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200" b="0">
                          <a:solidFill>
                            <a:srgbClr val="000000"/>
                          </a:solidFill>
                          <a:latin typeface="Arial"/>
                        </a:rPr>
                        <a:t>Existing transcutaneous meters (JM-105, BiliCheck, BiliCare) cost roughly US$2,000–5,000, need periodic calibration and remain confined mostly to hospitals/NICUs. Blood-based point-of-care tools (Bilistick) still require a heel/finger prick and show test-failure rates around 10%. Smartphone-camera apps (BiliCam, Picterus, BiliScan) are promising but depend on printed calibration cards, controlled ambient lighting and further multi-ethnic validation, and none yet combine low cost, full non-contact operation and field-ready robustness for primary-care and community settings.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bl>
          </a:graphicData>
        </a:graphic>
      </p:graphicFrame>
      <p:grpSp>
        <p:nvGrpSpPr>
          <p:cNvPr id="20" name="Group 20"/>
          <p:cNvGrpSpPr/>
          <p:nvPr/>
        </p:nvGrpSpPr>
        <p:grpSpPr>
          <a:xfrm>
            <a:off x="355185" y="9014381"/>
            <a:ext cx="17654292" cy="1633747"/>
            <a:chOff x="0" y="0"/>
            <a:chExt cx="23539056" cy="2178329"/>
          </a:xfrm>
        </p:grpSpPr>
        <p:sp>
          <p:nvSpPr>
            <p:cNvPr id="21" name="Freeform 21"/>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2" name="Freeform 22"/>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3" name="Freeform 23"/>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4" name="Freeform 24"/>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5" name="Freeform 25"/>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6" name="Freeform 26"/>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7" name="Freeform 27"/>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8" name="Freeform 28"/>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21555"/>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Problem Definition and Intended Use</a:t>
              </a:r>
            </a:p>
          </p:txBody>
        </p:sp>
      </p:grpSp>
      <p:graphicFrame>
        <p:nvGraphicFramePr>
          <p:cNvPr id="11" name="Table 11"/>
          <p:cNvGraphicFramePr>
            <a:graphicFrameLocks noGrp="1"/>
          </p:cNvGraphicFramePr>
          <p:nvPr/>
        </p:nvGraphicFramePr>
        <p:xfrm>
          <a:off x="76874" y="1259238"/>
          <a:ext cx="18034000" cy="5003800"/>
        </p:xfrm>
        <a:graphic>
          <a:graphicData uri="http://schemas.openxmlformats.org/drawingml/2006/table">
            <a:tbl>
              <a:tblPr/>
              <a:tblGrid>
                <a:gridCol w="2917997">
                  <a:extLst>
                    <a:ext uri="{9D8B030D-6E8A-4147-A177-3AD203B41FA5}">
                      <a16:colId xmlns:a16="http://schemas.microsoft.com/office/drawing/2014/main" val="20000"/>
                    </a:ext>
                  </a:extLst>
                </a:gridCol>
                <a:gridCol w="15116003">
                  <a:extLst>
                    <a:ext uri="{9D8B030D-6E8A-4147-A177-3AD203B41FA5}">
                      <a16:colId xmlns:a16="http://schemas.microsoft.com/office/drawing/2014/main" val="20001"/>
                    </a:ext>
                  </a:extLst>
                </a:gridCol>
              </a:tblGrid>
              <a:tr h="1012428">
                <a:tc>
                  <a:txBody>
                    <a:bodyPr/>
                    <a:lstStyle/>
                    <a:p>
                      <a:pPr algn="l">
                        <a:lnSpc>
                          <a:spcPts val="3600"/>
                        </a:lnSpc>
                        <a:defRPr/>
                      </a:pPr>
                      <a:r>
                        <a:rPr lang="en-US" sz="3000" b="1">
                          <a:solidFill>
                            <a:srgbClr val="44546A"/>
                          </a:solidFill>
                          <a:latin typeface="Arial Bold"/>
                          <a:ea typeface="Arial Bold"/>
                          <a:cs typeface="Arial Bold"/>
                          <a:sym typeface="Arial Bold"/>
                        </a:rPr>
                        <a:t>Need Statement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Provide a low-cost, accurate, easy-to-use, non-invasive probe that screens newborns for hyperbilirubinemia at the point of care — including outside tertiary NICUs — without a blood draw.</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0"/>
                  </a:ext>
                </a:extLst>
              </a:tr>
              <a:tr h="666200">
                <a:tc>
                  <a:txBody>
                    <a:bodyPr/>
                    <a:lstStyle/>
                    <a:p>
                      <a:pPr algn="l">
                        <a:lnSpc>
                          <a:spcPts val="3600"/>
                        </a:lnSpc>
                        <a:defRPr/>
                      </a:pPr>
                      <a:r>
                        <a:rPr lang="en-US" sz="3000" b="1">
                          <a:solidFill>
                            <a:srgbClr val="44546A"/>
                          </a:solidFill>
                          <a:latin typeface="Arial Bold"/>
                          <a:ea typeface="Arial Bold"/>
                          <a:cs typeface="Arial Bold"/>
                          <a:sym typeface="Arial Bold"/>
                        </a:rPr>
                        <a:t>Who (User of the Device)</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Newborns aged 0–14 days at risk of jaundice; operated by nurses, pediatricians, ASHA/community health workers and trained caregivers.</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1"/>
                  </a:ext>
                </a:extLst>
              </a:tr>
              <a:tr h="666200">
                <a:tc>
                  <a:txBody>
                    <a:bodyPr/>
                    <a:lstStyle/>
                    <a:p>
                      <a:pPr algn="l">
                        <a:lnSpc>
                          <a:spcPts val="3600"/>
                        </a:lnSpc>
                        <a:defRPr/>
                      </a:pPr>
                      <a:r>
                        <a:rPr lang="en-US" sz="3000" b="1">
                          <a:solidFill>
                            <a:srgbClr val="44546A"/>
                          </a:solidFill>
                          <a:latin typeface="Arial Bold"/>
                          <a:ea typeface="Arial Bold"/>
                          <a:cs typeface="Arial Bold"/>
                          <a:sym typeface="Arial Bold"/>
                        </a:rPr>
                        <a:t>What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A handheld optical probe that measures a reflectance/transmission signal correlated with skin bilirubin and outputs an estimated bilirubin risk value.</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666200">
                <a:tc>
                  <a:txBody>
                    <a:bodyPr/>
                    <a:lstStyle/>
                    <a:p>
                      <a:pPr algn="l">
                        <a:lnSpc>
                          <a:spcPts val="3600"/>
                        </a:lnSpc>
                        <a:defRPr/>
                      </a:pPr>
                      <a:r>
                        <a:rPr lang="en-US" sz="3000" b="1">
                          <a:solidFill>
                            <a:srgbClr val="44546A"/>
                          </a:solidFill>
                          <a:latin typeface="Arial Bold"/>
                          <a:ea typeface="Arial Bold"/>
                          <a:cs typeface="Arial Bold"/>
                          <a:sym typeface="Arial Bold"/>
                        </a:rPr>
                        <a:t>When</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Within the first week of life — pre-discharge screening, the day 3–5 follow-up visit, and community screening for home births or early-discharge infants.</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3"/>
                  </a:ext>
                </a:extLst>
              </a:tr>
              <a:tr h="666200">
                <a:tc>
                  <a:txBody>
                    <a:bodyPr/>
                    <a:lstStyle/>
                    <a:p>
                      <a:pPr algn="l">
                        <a:lnSpc>
                          <a:spcPts val="3600"/>
                        </a:lnSpc>
                        <a:defRPr/>
                      </a:pPr>
                      <a:r>
                        <a:rPr lang="en-US" sz="3000" b="1">
                          <a:solidFill>
                            <a:srgbClr val="44546A"/>
                          </a:solidFill>
                          <a:latin typeface="Arial Bold"/>
                          <a:ea typeface="Arial Bold"/>
                          <a:cs typeface="Arial Bold"/>
                          <a:sym typeface="Arial Bold"/>
                        </a:rPr>
                        <a:t>Where</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Postnatal wards, NICUs, primary health centres/rural clinics, and home visits.</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666200">
                <a:tc>
                  <a:txBody>
                    <a:bodyPr/>
                    <a:lstStyle/>
                    <a:p>
                      <a:pPr algn="l">
                        <a:lnSpc>
                          <a:spcPts val="3600"/>
                        </a:lnSpc>
                        <a:defRPr/>
                      </a:pPr>
                      <a:r>
                        <a:rPr lang="en-US" sz="3000" b="1">
                          <a:solidFill>
                            <a:srgbClr val="44546A"/>
                          </a:solidFill>
                          <a:latin typeface="Arial Bold"/>
                          <a:ea typeface="Arial Bold"/>
                          <a:cs typeface="Arial Bold"/>
                          <a:sym typeface="Arial Bold"/>
                        </a:rPr>
                        <a:t>Why</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To reduce missed or delayed diagnosis of severe hyperbilirubinemia (which can progress to kernicterus), while avoiding painful blood draws and extending screening to resource-limited settings that lack benchtop bilirubinometers.</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5"/>
                  </a:ext>
                </a:extLst>
              </a:tr>
              <a:tr h="660371">
                <a:tc>
                  <a:txBody>
                    <a:bodyPr/>
                    <a:lstStyle/>
                    <a:p>
                      <a:pPr algn="l">
                        <a:lnSpc>
                          <a:spcPts val="3600"/>
                        </a:lnSpc>
                        <a:defRPr/>
                      </a:pPr>
                      <a:r>
                        <a:rPr lang="en-US" sz="3000" b="1">
                          <a:solidFill>
                            <a:srgbClr val="44546A"/>
                          </a:solidFill>
                          <a:latin typeface="Arial Bold"/>
                          <a:ea typeface="Arial Bold"/>
                          <a:cs typeface="Arial Bold"/>
                          <a:sym typeface="Arial Bold"/>
                        </a:rPr>
                        <a:t>Intended Use</a:t>
                      </a:r>
                      <a:endParaRPr lang="en-US" sz="1100"/>
                    </a:p>
                    <a:p>
                      <a:pPr algn="l">
                        <a:lnSpc>
                          <a:spcPts val="3600"/>
                        </a:lnSpc>
                      </a:pP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EE599"/>
                    </a:solidFill>
                  </a:tcPr>
                </a:tc>
                <a:tc>
                  <a:txBody>
                    <a:bodyPr/>
                    <a:lstStyle/>
                    <a:p>
                      <a:pPr algn="l">
                        <a:lnSpc>
                          <a:spcPts val="1679"/>
                        </a:lnSpc>
                        <a:defRPr/>
                      </a:pPr>
                      <a:r>
                        <a:rPr sz="1300" b="0">
                          <a:solidFill>
                            <a:srgbClr val="000000"/>
                          </a:solidFill>
                          <a:latin typeface="Arial"/>
                        </a:rPr>
                        <a:t>A screening aid — not a standalone diagnostic — that flags newborns who need a confirmatory total serum bilirubin (TSB) test, consistent with the regulatory framing of existing transcutaneous bilirubinometers (21 CFR 862.1113) and AAP 2022 guidance on universal predischarge screening.</a:t>
                      </a:r>
                      <a:endParaRPr lang="en-US" sz="1100"/>
                    </a:p>
                  </a:txBody>
                  <a:tcPr marL="68600" marR="68600" marT="68600" marB="68600">
                    <a:lnL w="12700" cap="flat" cmpd="sng" algn="ctr">
                      <a:solidFill>
                        <a:srgbClr val="FFFFFF"/>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bl>
          </a:graphicData>
        </a:graphic>
      </p:graphicFrame>
      <p:grpSp>
        <p:nvGrpSpPr>
          <p:cNvPr id="12" name="Group 12"/>
          <p:cNvGrpSpPr/>
          <p:nvPr/>
        </p:nvGrpSpPr>
        <p:grpSpPr>
          <a:xfrm>
            <a:off x="327422" y="140056"/>
            <a:ext cx="605609" cy="767429"/>
            <a:chOff x="0" y="0"/>
            <a:chExt cx="807479" cy="1023239"/>
          </a:xfrm>
        </p:grpSpPr>
        <p:sp>
          <p:nvSpPr>
            <p:cNvPr id="13" name="Freeform 13"/>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4" name="Group 14"/>
          <p:cNvGrpSpPr/>
          <p:nvPr/>
        </p:nvGrpSpPr>
        <p:grpSpPr>
          <a:xfrm>
            <a:off x="17330528" y="21374"/>
            <a:ext cx="815997" cy="886196"/>
            <a:chOff x="0" y="0"/>
            <a:chExt cx="1087996" cy="1181595"/>
          </a:xfrm>
        </p:grpSpPr>
        <p:sp>
          <p:nvSpPr>
            <p:cNvPr id="15" name="Freeform 15"/>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6" name="Group 16"/>
          <p:cNvGrpSpPr/>
          <p:nvPr/>
        </p:nvGrpSpPr>
        <p:grpSpPr>
          <a:xfrm>
            <a:off x="14807355" y="4048"/>
            <a:ext cx="2945997" cy="1000201"/>
            <a:chOff x="0" y="0"/>
            <a:chExt cx="3927996" cy="1333602"/>
          </a:xfrm>
        </p:grpSpPr>
        <p:sp>
          <p:nvSpPr>
            <p:cNvPr id="17" name="Freeform 17"/>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8" name="TextBox 18"/>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pSp>
        <p:nvGrpSpPr>
          <p:cNvPr id="19" name="Group 19"/>
          <p:cNvGrpSpPr/>
          <p:nvPr/>
        </p:nvGrpSpPr>
        <p:grpSpPr>
          <a:xfrm>
            <a:off x="355185" y="9014381"/>
            <a:ext cx="17654292" cy="1633747"/>
            <a:chOff x="0" y="0"/>
            <a:chExt cx="23539056" cy="2178329"/>
          </a:xfrm>
        </p:grpSpPr>
        <p:sp>
          <p:nvSpPr>
            <p:cNvPr id="20" name="Freeform 20"/>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1" name="Freeform 21"/>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2" name="Freeform 22"/>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3" name="Freeform 23"/>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4" name="Freeform 24"/>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5" name="Freeform 25"/>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6" name="Freeform 26"/>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7" name="Freeform 27"/>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21555"/>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User &amp; Functional Requirements</a:t>
              </a:r>
            </a:p>
          </p:txBody>
        </p:sp>
      </p:grpSp>
      <p:grpSp>
        <p:nvGrpSpPr>
          <p:cNvPr id="11" name="Group 11"/>
          <p:cNvGrpSpPr/>
          <p:nvPr/>
        </p:nvGrpSpPr>
        <p:grpSpPr>
          <a:xfrm>
            <a:off x="327422" y="140056"/>
            <a:ext cx="605609" cy="767429"/>
            <a:chOff x="0" y="0"/>
            <a:chExt cx="807479" cy="1023239"/>
          </a:xfrm>
        </p:grpSpPr>
        <p:sp>
          <p:nvSpPr>
            <p:cNvPr id="12" name="Freeform 12"/>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3" name="Group 13"/>
          <p:cNvGrpSpPr/>
          <p:nvPr/>
        </p:nvGrpSpPr>
        <p:grpSpPr>
          <a:xfrm>
            <a:off x="17330528" y="21374"/>
            <a:ext cx="815997" cy="886196"/>
            <a:chOff x="0" y="0"/>
            <a:chExt cx="1087996" cy="1181595"/>
          </a:xfrm>
        </p:grpSpPr>
        <p:sp>
          <p:nvSpPr>
            <p:cNvPr id="14" name="Freeform 14"/>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5" name="Group 15"/>
          <p:cNvGrpSpPr/>
          <p:nvPr/>
        </p:nvGrpSpPr>
        <p:grpSpPr>
          <a:xfrm>
            <a:off x="14807355" y="4048"/>
            <a:ext cx="2945997" cy="1000201"/>
            <a:chOff x="0" y="0"/>
            <a:chExt cx="3927996" cy="1333602"/>
          </a:xfrm>
        </p:grpSpPr>
        <p:sp>
          <p:nvSpPr>
            <p:cNvPr id="16" name="Freeform 16"/>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7" name="TextBox 17"/>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aphicFrame>
        <p:nvGraphicFramePr>
          <p:cNvPr id="18" name="Table 18"/>
          <p:cNvGraphicFramePr>
            <a:graphicFrameLocks noGrp="1"/>
          </p:cNvGraphicFramePr>
          <p:nvPr/>
        </p:nvGraphicFramePr>
        <p:xfrm>
          <a:off x="45244" y="1774328"/>
          <a:ext cx="18211800" cy="6604000"/>
        </p:xfrm>
        <a:graphic>
          <a:graphicData uri="http://schemas.openxmlformats.org/drawingml/2006/table">
            <a:tbl>
              <a:tblPr/>
              <a:tblGrid>
                <a:gridCol w="709969">
                  <a:extLst>
                    <a:ext uri="{9D8B030D-6E8A-4147-A177-3AD203B41FA5}">
                      <a16:colId xmlns:a16="http://schemas.microsoft.com/office/drawing/2014/main" val="20000"/>
                    </a:ext>
                  </a:extLst>
                </a:gridCol>
                <a:gridCol w="7007004">
                  <a:extLst>
                    <a:ext uri="{9D8B030D-6E8A-4147-A177-3AD203B41FA5}">
                      <a16:colId xmlns:a16="http://schemas.microsoft.com/office/drawing/2014/main" val="20001"/>
                    </a:ext>
                  </a:extLst>
                </a:gridCol>
                <a:gridCol w="7007004">
                  <a:extLst>
                    <a:ext uri="{9D8B030D-6E8A-4147-A177-3AD203B41FA5}">
                      <a16:colId xmlns:a16="http://schemas.microsoft.com/office/drawing/2014/main" val="20002"/>
                    </a:ext>
                  </a:extLst>
                </a:gridCol>
                <a:gridCol w="3487823">
                  <a:extLst>
                    <a:ext uri="{9D8B030D-6E8A-4147-A177-3AD203B41FA5}">
                      <a16:colId xmlns:a16="http://schemas.microsoft.com/office/drawing/2014/main" val="20003"/>
                    </a:ext>
                  </a:extLst>
                </a:gridCol>
              </a:tblGrid>
              <a:tr h="655769">
                <a:tc>
                  <a:txBody>
                    <a:bodyPr/>
                    <a:lstStyle/>
                    <a:p>
                      <a:pPr algn="l">
                        <a:lnSpc>
                          <a:spcPts val="3840"/>
                        </a:lnSpc>
                        <a:defRPr/>
                      </a:pPr>
                      <a:r>
                        <a:rPr lang="en-US" sz="3200">
                          <a:solidFill>
                            <a:srgbClr val="FFFFFF"/>
                          </a:solidFill>
                          <a:latin typeface="Arial"/>
                          <a:ea typeface="Arial"/>
                          <a:cs typeface="Arial"/>
                          <a:sym typeface="Arial"/>
                        </a:rPr>
                        <a:t>#</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User Requirements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Functional Requirements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l">
                        <a:lnSpc>
                          <a:spcPts val="3840"/>
                        </a:lnSpc>
                        <a:defRPr/>
                      </a:pPr>
                      <a:r>
                        <a:rPr lang="en-US" sz="3200">
                          <a:solidFill>
                            <a:srgbClr val="FFFFFF"/>
                          </a:solidFill>
                          <a:latin typeface="Arial"/>
                          <a:ea typeface="Arial"/>
                          <a:cs typeface="Arial"/>
                          <a:sym typeface="Arial"/>
                        </a:rPr>
                        <a:t>Reference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661558">
                <a:tc>
                  <a:txBody>
                    <a:bodyPr/>
                    <a:lstStyle/>
                    <a:p>
                      <a:pPr algn="l">
                        <a:lnSpc>
                          <a:spcPts val="1679"/>
                        </a:lnSpc>
                        <a:defRPr/>
                      </a:pPr>
                      <a:r>
                        <a:rPr sz="900" b="0">
                          <a:solidFill>
                            <a:srgbClr val="000000"/>
                          </a:solidFill>
                          <a:latin typeface="Arial"/>
                        </a:rPr>
                        <a:t>1</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Painless, non-invasive measurement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Optical LED-photodiode reflectance sensing with no skin puncture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00" b="0">
                          <a:solidFill>
                            <a:srgbClr val="000000"/>
                          </a:solidFill>
                          <a:latin typeface="Arial"/>
                        </a:rPr>
                        <a:t>AAP 2022 CPG endorses TcB as a non-invasive screening tool</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r h="661558">
                <a:tc>
                  <a:txBody>
                    <a:bodyPr/>
                    <a:lstStyle/>
                    <a:p>
                      <a:pPr algn="l">
                        <a:lnSpc>
                          <a:spcPts val="1679"/>
                        </a:lnSpc>
                        <a:defRPr/>
                      </a:pPr>
                      <a:r>
                        <a:rPr sz="900" b="0">
                          <a:solidFill>
                            <a:srgbClr val="000000"/>
                          </a:solidFill>
                          <a:latin typeface="Arial"/>
                        </a:rPr>
                        <a:t>2</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Fast result at the bedside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On-board signal acquisition and processing delivering a reading in under 10 seconds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00" b="0">
                          <a:solidFill>
                            <a:srgbClr val="000000"/>
                          </a:solidFill>
                          <a:latin typeface="Arial"/>
                        </a:rPr>
                        <a:t>Comparable to commercial TcB meters (e.g. JM-105) workflow</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661558">
                <a:tc>
                  <a:txBody>
                    <a:bodyPr/>
                    <a:lstStyle/>
                    <a:p>
                      <a:pPr algn="l">
                        <a:lnSpc>
                          <a:spcPts val="1679"/>
                        </a:lnSpc>
                        <a:defRPr/>
                      </a:pPr>
                      <a:r>
                        <a:rPr sz="900" b="0">
                          <a:solidFill>
                            <a:srgbClr val="000000"/>
                          </a:solidFill>
                          <a:latin typeface="Arial"/>
                        </a:rPr>
                        <a:t>3</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Accurate across skin tones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Dual/multi-wavelength optical compensation algorithm correcting for melanin interference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00" b="0">
                          <a:solidFill>
                            <a:srgbClr val="000000"/>
                          </a:solidFill>
                          <a:latin typeface="Arial"/>
                        </a:rPr>
                        <a:t>Halder et al. 2020, Sci Rep; AAP 2022 (removed race as a risk factor, mandates universal screening)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661558">
                <a:tc>
                  <a:txBody>
                    <a:bodyPr/>
                    <a:lstStyle/>
                    <a:p>
                      <a:pPr algn="l">
                        <a:lnSpc>
                          <a:spcPts val="1679"/>
                        </a:lnSpc>
                        <a:defRPr/>
                      </a:pPr>
                      <a:r>
                        <a:rPr sz="900" b="0">
                          <a:solidFill>
                            <a:srgbClr val="000000"/>
                          </a:solidFill>
                          <a:latin typeface="Arial"/>
                        </a:rPr>
                        <a:t>4</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Usable by non-specialist health workers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Single-button operation with a simple visual/audio result indicator and minimal training need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00" b="0">
                          <a:solidFill>
                            <a:srgbClr val="000000"/>
                          </a:solidFill>
                          <a:latin typeface="Arial"/>
                        </a:rPr>
                        <a:t>IEC 62366-1 usability engineering standard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661558">
                <a:tc>
                  <a:txBody>
                    <a:bodyPr/>
                    <a:lstStyle/>
                    <a:p>
                      <a:pPr algn="l">
                        <a:lnSpc>
                          <a:spcPts val="1679"/>
                        </a:lnSpc>
                        <a:defRPr/>
                      </a:pPr>
                      <a:r>
                        <a:rPr sz="900" b="0">
                          <a:solidFill>
                            <a:srgbClr val="000000"/>
                          </a:solidFill>
                          <a:latin typeface="Arial"/>
                        </a:rPr>
                        <a:t>5</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Portable, field-ready operation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Compact handheld form factor with rechargeable battery for ≥ 8 h continuous use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00" b="0">
                          <a:solidFill>
                            <a:srgbClr val="000000"/>
                          </a:solidFill>
                          <a:latin typeface="Arial"/>
                        </a:rPr>
                        <a:t>UNICEF transcutaneous bilirubin meter device specification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5"/>
                  </a:ext>
                </a:extLst>
              </a:tr>
              <a:tr h="661558">
                <a:tc>
                  <a:txBody>
                    <a:bodyPr/>
                    <a:lstStyle/>
                    <a:p>
                      <a:pPr algn="l">
                        <a:lnSpc>
                          <a:spcPts val="1679"/>
                        </a:lnSpc>
                        <a:defRPr/>
                      </a:pPr>
                      <a:r>
                        <a:rPr sz="900" b="0">
                          <a:solidFill>
                            <a:srgbClr val="000000"/>
                          </a:solidFill>
                          <a:latin typeface="Arial"/>
                        </a:rPr>
                        <a:t>6</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Affordable for resource-limited settings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Target bill-of-materials enabling a retail price well below current TcB meters (~US$2,000–5,000)</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00" b="0">
                          <a:solidFill>
                            <a:srgbClr val="000000"/>
                          </a:solidFill>
                          <a:latin typeface="Arial"/>
                        </a:rPr>
                        <a:t>Bilirubin-meters market reports (IMARC, GII)</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r h="661558">
                <a:tc>
                  <a:txBody>
                    <a:bodyPr/>
                    <a:lstStyle/>
                    <a:p>
                      <a:pPr algn="l">
                        <a:lnSpc>
                          <a:spcPts val="1679"/>
                        </a:lnSpc>
                        <a:defRPr/>
                      </a:pPr>
                      <a:r>
                        <a:rPr sz="900" b="0">
                          <a:solidFill>
                            <a:srgbClr val="000000"/>
                          </a:solidFill>
                          <a:latin typeface="Arial"/>
                        </a:rPr>
                        <a:t>7</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Safe for neonatal skin contact</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Biocompatible probe-tip materials and low-intensity LED exposure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tc>
                  <a:txBody>
                    <a:bodyPr/>
                    <a:lstStyle/>
                    <a:p>
                      <a:pPr algn="l">
                        <a:lnSpc>
                          <a:spcPts val="1679"/>
                        </a:lnSpc>
                        <a:defRPr/>
                      </a:pPr>
                      <a:r>
                        <a:rPr sz="800" b="0">
                          <a:solidFill>
                            <a:srgbClr val="000000"/>
                          </a:solidFill>
                          <a:latin typeface="Arial"/>
                        </a:rPr>
                        <a:t>ISO 10993-1 biological evaluation of medical devices</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7"/>
                  </a:ext>
                </a:extLst>
              </a:tr>
              <a:tr h="661558">
                <a:tc>
                  <a:txBody>
                    <a:bodyPr/>
                    <a:lstStyle/>
                    <a:p>
                      <a:pPr algn="l">
                        <a:lnSpc>
                          <a:spcPts val="1679"/>
                        </a:lnSpc>
                        <a:defRPr/>
                      </a:pPr>
                      <a:r>
                        <a:rPr sz="900" b="0">
                          <a:solidFill>
                            <a:srgbClr val="000000"/>
                          </a:solidFill>
                          <a:latin typeface="Arial"/>
                        </a:rPr>
                        <a:t>8</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Reliable data logging</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50" b="0">
                          <a:solidFill>
                            <a:srgbClr val="000000"/>
                          </a:solidFill>
                          <a:latin typeface="Arial"/>
                        </a:rPr>
                        <a:t>On-device storage with Bluetooth export of each reading, timestamp and patient ID</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tc>
                  <a:txBody>
                    <a:bodyPr/>
                    <a:lstStyle/>
                    <a:p>
                      <a:pPr algn="l">
                        <a:lnSpc>
                          <a:spcPts val="1679"/>
                        </a:lnSpc>
                        <a:defRPr/>
                      </a:pPr>
                      <a:r>
                        <a:rPr sz="800" b="0">
                          <a:solidFill>
                            <a:srgbClr val="000000"/>
                          </a:solidFill>
                          <a:latin typeface="Arial"/>
                        </a:rPr>
                        <a:t>IEC 60601-1 general requirements; hospital EMR integration practice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0E0E0"/>
                    </a:solidFill>
                  </a:tcPr>
                </a:tc>
                <a:extLst>
                  <a:ext uri="{0D108BD9-81ED-4DB2-BD59-A6C34878D82A}">
                    <a16:rowId xmlns:a16="http://schemas.microsoft.com/office/drawing/2014/main" val="10008"/>
                  </a:ext>
                </a:extLst>
              </a:tr>
              <a:tr h="655769">
                <a:tc>
                  <a:txBody>
                    <a:bodyPr/>
                    <a:lstStyle/>
                    <a:p>
                      <a:pPr algn="l">
                        <a:lnSpc>
                          <a:spcPts val="1679"/>
                        </a:lnSpc>
                        <a:defRPr/>
                      </a:pPr>
                      <a:r>
                        <a:rPr sz="900" b="0">
                          <a:solidFill>
                            <a:srgbClr val="000000"/>
                          </a:solidFill>
                          <a:latin typeface="Arial"/>
                        </a:rPr>
                        <a:t>9</a:t>
                      </a:r>
                      <a:endParaRPr lang="en-US" sz="1100"/>
                    </a:p>
                  </a:txBody>
                  <a:tcPr marL="68600" marR="68600" marT="68600" marB="68600">
                    <a:lnL w="9525"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EE599"/>
                    </a:solidFill>
                  </a:tcPr>
                </a:tc>
                <a:tc>
                  <a:txBody>
                    <a:bodyPr/>
                    <a:lstStyle/>
                    <a:p>
                      <a:pPr algn="l">
                        <a:lnSpc>
                          <a:spcPts val="1679"/>
                        </a:lnSpc>
                        <a:defRPr/>
                      </a:pPr>
                      <a:r>
                        <a:rPr sz="900" b="1">
                          <a:solidFill>
                            <a:srgbClr val="000000"/>
                          </a:solidFill>
                          <a:latin typeface="Arial"/>
                        </a:rPr>
                        <a:t>Regulatory-compliant design</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850" b="0">
                          <a:solidFill>
                            <a:srgbClr val="000000"/>
                          </a:solidFill>
                          <a:latin typeface="Arial"/>
                        </a:rPr>
                        <a:t>Electrically safe, EMC-compliant hardware and documented risk file</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pPr algn="l">
                        <a:lnSpc>
                          <a:spcPts val="1679"/>
                        </a:lnSpc>
                        <a:defRPr/>
                      </a:pPr>
                      <a:r>
                        <a:rPr sz="800" b="0">
                          <a:solidFill>
                            <a:srgbClr val="000000"/>
                          </a:solidFill>
                          <a:latin typeface="Arial"/>
                        </a:rPr>
                        <a:t>IEC 60601-1, IEC 60601-1-2; CDSCO Medical Device Rules 2017 / 21 CFR 862.1113</a:t>
                      </a:r>
                      <a:endParaRPr lang="en-US" sz="1100"/>
                    </a:p>
                  </a:txBody>
                  <a:tcPr marL="68600" marR="68600" marT="68600" marB="686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9"/>
                  </a:ext>
                </a:extLst>
              </a:tr>
            </a:tbl>
          </a:graphicData>
        </a:graphic>
      </p:graphicFrame>
      <p:grpSp>
        <p:nvGrpSpPr>
          <p:cNvPr id="19" name="Group 19"/>
          <p:cNvGrpSpPr/>
          <p:nvPr/>
        </p:nvGrpSpPr>
        <p:grpSpPr>
          <a:xfrm>
            <a:off x="355185" y="9014381"/>
            <a:ext cx="17654292" cy="1633747"/>
            <a:chOff x="0" y="0"/>
            <a:chExt cx="23539056" cy="2178329"/>
          </a:xfrm>
        </p:grpSpPr>
        <p:sp>
          <p:nvSpPr>
            <p:cNvPr id="20" name="Freeform 20"/>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1" name="Freeform 21"/>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2" name="Freeform 22"/>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3" name="Freeform 23"/>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4" name="Freeform 24"/>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5" name="Freeform 25"/>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6" name="Freeform 26"/>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7" name="Freeform 27"/>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327422" y="140056"/>
            <a:ext cx="605609" cy="767429"/>
            <a:chOff x="0" y="0"/>
            <a:chExt cx="807479" cy="1023239"/>
          </a:xfrm>
        </p:grpSpPr>
        <p:sp>
          <p:nvSpPr>
            <p:cNvPr id="9" name="Freeform 9"/>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5"/>
              <a:stretch>
                <a:fillRect r="-1"/>
              </a:stretch>
            </a:blipFill>
          </p:spPr>
        </p:sp>
      </p:grpSp>
      <p:grpSp>
        <p:nvGrpSpPr>
          <p:cNvPr id="10" name="Group 10"/>
          <p:cNvGrpSpPr/>
          <p:nvPr/>
        </p:nvGrpSpPr>
        <p:grpSpPr>
          <a:xfrm>
            <a:off x="17330528" y="21374"/>
            <a:ext cx="815997" cy="886196"/>
            <a:chOff x="0" y="0"/>
            <a:chExt cx="1087996" cy="1181595"/>
          </a:xfrm>
        </p:grpSpPr>
        <p:sp>
          <p:nvSpPr>
            <p:cNvPr id="11" name="Freeform 11"/>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2" name="Group 12"/>
          <p:cNvGrpSpPr/>
          <p:nvPr/>
        </p:nvGrpSpPr>
        <p:grpSpPr>
          <a:xfrm>
            <a:off x="1219210" y="21574"/>
            <a:ext cx="8634603" cy="1004402"/>
            <a:chOff x="0" y="0"/>
            <a:chExt cx="11512804" cy="1339202"/>
          </a:xfrm>
        </p:grpSpPr>
        <p:sp>
          <p:nvSpPr>
            <p:cNvPr id="13" name="Freeform 13"/>
            <p:cNvSpPr/>
            <p:nvPr/>
          </p:nvSpPr>
          <p:spPr>
            <a:xfrm>
              <a:off x="0" y="0"/>
              <a:ext cx="11512800" cy="1339200"/>
            </a:xfrm>
            <a:custGeom>
              <a:avLst/>
              <a:gdLst/>
              <a:ahLst/>
              <a:cxnLst/>
              <a:rect l="l" t="t" r="r" b="b"/>
              <a:pathLst>
                <a:path w="11512800" h="1339200">
                  <a:moveTo>
                    <a:pt x="0" y="0"/>
                  </a:moveTo>
                  <a:lnTo>
                    <a:pt x="11512800" y="0"/>
                  </a:lnTo>
                  <a:lnTo>
                    <a:pt x="11512800" y="1339200"/>
                  </a:lnTo>
                  <a:lnTo>
                    <a:pt x="0" y="1339200"/>
                  </a:lnTo>
                  <a:close/>
                </a:path>
              </a:pathLst>
            </a:custGeom>
            <a:blipFill>
              <a:blip r:embed="rId6">
                <a:alphaModFix amt="0"/>
              </a:blip>
              <a:stretch>
                <a:fillRect t="-117508" b="-117508"/>
              </a:stretch>
            </a:blipFill>
          </p:spPr>
        </p:sp>
        <p:sp>
          <p:nvSpPr>
            <p:cNvPr id="14" name="TextBox 14"/>
            <p:cNvSpPr txBox="1"/>
            <p:nvPr/>
          </p:nvSpPr>
          <p:spPr>
            <a:xfrm>
              <a:off x="0" y="-85725"/>
              <a:ext cx="11512804"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Potential Concepts</a:t>
              </a:r>
            </a:p>
          </p:txBody>
        </p:sp>
      </p:grpSp>
      <p:grpSp>
        <p:nvGrpSpPr>
          <p:cNvPr id="15" name="Group 15"/>
          <p:cNvGrpSpPr/>
          <p:nvPr/>
        </p:nvGrpSpPr>
        <p:grpSpPr>
          <a:xfrm>
            <a:off x="14807355" y="4048"/>
            <a:ext cx="2945997" cy="1000201"/>
            <a:chOff x="0" y="0"/>
            <a:chExt cx="3927996" cy="1333602"/>
          </a:xfrm>
        </p:grpSpPr>
        <p:sp>
          <p:nvSpPr>
            <p:cNvPr id="16" name="Freeform 16"/>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6">
                <a:alphaModFix amt="0"/>
              </a:blip>
              <a:stretch>
                <a:fillRect t="-7391" b="-7391"/>
              </a:stretch>
            </a:blipFill>
          </p:spPr>
        </p:sp>
        <p:sp>
          <p:nvSpPr>
            <p:cNvPr id="17" name="TextBox 17"/>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aphicFrame>
        <p:nvGraphicFramePr>
          <p:cNvPr id="18" name="Table 18"/>
          <p:cNvGraphicFramePr>
            <a:graphicFrameLocks noGrp="1"/>
          </p:cNvGraphicFramePr>
          <p:nvPr/>
        </p:nvGraphicFramePr>
        <p:xfrm>
          <a:off x="6" y="1051912"/>
          <a:ext cx="18260947" cy="4823639"/>
        </p:xfrm>
        <a:graphic>
          <a:graphicData uri="http://schemas.openxmlformats.org/drawingml/2006/table">
            <a:tbl>
              <a:tblPr/>
              <a:tblGrid>
                <a:gridCol w="9387520">
                  <a:extLst>
                    <a:ext uri="{9D8B030D-6E8A-4147-A177-3AD203B41FA5}">
                      <a16:colId xmlns:a16="http://schemas.microsoft.com/office/drawing/2014/main" val="20000"/>
                    </a:ext>
                  </a:extLst>
                </a:gridCol>
                <a:gridCol w="8873428">
                  <a:extLst>
                    <a:ext uri="{9D8B030D-6E8A-4147-A177-3AD203B41FA5}">
                      <a16:colId xmlns:a16="http://schemas.microsoft.com/office/drawing/2014/main" val="20001"/>
                    </a:ext>
                  </a:extLst>
                </a:gridCol>
              </a:tblGrid>
              <a:tr h="1023233">
                <a:tc gridSpan="2">
                  <a:txBody>
                    <a:bodyPr/>
                    <a:lstStyle/>
                    <a:p>
                      <a:pPr algn="l">
                        <a:lnSpc>
                          <a:spcPts val="4089"/>
                        </a:lnSpc>
                        <a:defRPr/>
                      </a:pPr>
                      <a:r>
                        <a:rPr lang="en-US" sz="3408">
                          <a:solidFill>
                            <a:srgbClr val="FFFFFF"/>
                          </a:solidFill>
                          <a:latin typeface="Calibri (MS)"/>
                          <a:ea typeface="Calibri (MS)"/>
                          <a:cs typeface="Calibri (MS)"/>
                          <a:sym typeface="Calibri (MS)"/>
                        </a:rPr>
                        <a:t>Potential Concepts to Solve the Problem</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44546A"/>
                    </a:solidFill>
                  </a:tcPr>
                </a:tc>
                <a:tc hMerge="1">
                  <a:txBody>
                    <a:bodyPr/>
                    <a:lstStyle/>
                    <a:p>
                      <a:pPr algn="l">
                        <a:lnSpc>
                          <a:spcPts val="4089"/>
                        </a:lnSpc>
                        <a:defRPr/>
                      </a:pPr>
                      <a:r>
                        <a:rPr lang="en-US" sz="3408">
                          <a:solidFill>
                            <a:srgbClr val="FFFFFF"/>
                          </a:solidFill>
                          <a:latin typeface="Calibri (MS)"/>
                          <a:ea typeface="Calibri (MS)"/>
                          <a:cs typeface="Calibri (MS)"/>
                          <a:sym typeface="Calibri (MS)"/>
                        </a:rPr>
                        <a:t>Potential Concepts to Solve the Problem</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950134">
                <a:tc>
                  <a:txBody>
                    <a:bodyPr/>
                    <a:lstStyle/>
                    <a:p>
                      <a:pPr algn="l">
                        <a:lnSpc>
                          <a:spcPts val="1789"/>
                        </a:lnSpc>
                        <a:defRPr/>
                      </a:pPr>
                      <a:r>
                        <a:rPr sz="1100">
                          <a:solidFill>
                            <a:srgbClr val="000000"/>
                          </a:solidFill>
                          <a:latin typeface="Arial"/>
                        </a:rPr>
                        <a:t>1. Contact TcB probe – melanin-compensated</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E0E0E0"/>
                    </a:solidFill>
                  </a:tcPr>
                </a:tc>
                <a:tc>
                  <a:txBody>
                    <a:bodyPr/>
                    <a:lstStyle/>
                    <a:p>
                      <a:pPr algn="l">
                        <a:lnSpc>
                          <a:spcPts val="1789"/>
                        </a:lnSpc>
                        <a:defRPr/>
                      </a:pPr>
                      <a:r>
                        <a:rPr sz="1050">
                          <a:solidFill>
                            <a:srgbClr val="000000"/>
                          </a:solidFill>
                          <a:latin typeface="Arial"/>
                        </a:rPr>
                        <a:t>Dual-wavelength (455/575 nm) reflectance probe at sternum/forehead with a skin-tone correction algorithm</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1"/>
                  </a:ext>
                </a:extLst>
              </a:tr>
              <a:tr h="950091">
                <a:tc rowSpan="3">
                  <a:txBody>
                    <a:bodyPr/>
                    <a:lstStyle/>
                    <a:p>
                      <a:pPr algn="l">
                        <a:lnSpc>
                          <a:spcPts val="1789"/>
                        </a:lnSpc>
                        <a:defRPr/>
                      </a:pPr>
                      <a:r>
                        <a:rPr sz="1100">
                          <a:solidFill>
                            <a:srgbClr val="000000"/>
                          </a:solidFill>
                          <a:latin typeface="Arial"/>
                        </a:rPr>
                        <a:t>2. Non-contact optical imaging probe</a:t>
                      </a:r>
                      <a:endParaRPr lang="en-US" sz="1100"/>
                    </a:p>
                    <a:p>
                      <a:endParaRPr lang="en-US" sz="1100"/>
                    </a:p>
                    <a:p>
                      <a:r>
                        <a:rPr sz="1100">
                          <a:solidFill>
                            <a:srgbClr val="000000"/>
                          </a:solidFill>
                          <a:latin typeface="Arial"/>
                        </a:rPr>
                        <a:t>3. Smartphone clip-on adapter</a:t>
                      </a:r>
                    </a:p>
                    <a:p>
                      <a:endParaRPr sz="1100">
                        <a:solidFill>
                          <a:srgbClr val="000000"/>
                        </a:solidFill>
                        <a:latin typeface="Arial"/>
                      </a:endParaRPr>
                    </a:p>
                    <a:p>
                      <a:r>
                        <a:rPr sz="1100">
                          <a:solidFill>
                            <a:srgbClr val="000000"/>
                          </a:solidFill>
                          <a:latin typeface="Arial"/>
                        </a:rPr>
                        <a:t>4. Ear-clip spectroscopic probe</a:t>
                      </a:r>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F0F0F0"/>
                    </a:solidFill>
                  </a:tcPr>
                </a:tc>
                <a:tc rowSpan="3">
                  <a:txBody>
                    <a:bodyPr/>
                    <a:lstStyle/>
                    <a:p>
                      <a:pPr algn="l">
                        <a:lnSpc>
                          <a:spcPts val="1789"/>
                        </a:lnSpc>
                        <a:defRPr/>
                      </a:pPr>
                      <a:r>
                        <a:rPr sz="1050">
                          <a:solidFill>
                            <a:srgbClr val="000000"/>
                          </a:solidFill>
                          <a:latin typeface="Arial"/>
                        </a:rPr>
                        <a:t>Camera with multi-LED illumination capturing forehead/sternum images, ambient-light subtraction and on-board ML inference</a:t>
                      </a:r>
                      <a:endParaRPr lang="en-US" sz="1100"/>
                    </a:p>
                    <a:p>
                      <a:endParaRPr lang="en-US" sz="1100"/>
                    </a:p>
                    <a:p>
                      <a:r>
                        <a:rPr sz="1050">
                          <a:solidFill>
                            <a:srgbClr val="000000"/>
                          </a:solidFill>
                          <a:latin typeface="Arial"/>
                        </a:rPr>
                        <a:t>Low-cost optical attachment with a calibration card and companion app for community health workers</a:t>
                      </a:r>
                    </a:p>
                    <a:p>
                      <a:endParaRPr sz="1050">
                        <a:solidFill>
                          <a:srgbClr val="000000"/>
                        </a:solidFill>
                        <a:latin typeface="Arial"/>
                      </a:endParaRPr>
                    </a:p>
                    <a:p>
                      <a:r>
                        <a:rPr sz="1050">
                          <a:solidFill>
                            <a:srgbClr val="000000"/>
                          </a:solidFill>
                          <a:latin typeface="Arial"/>
                        </a:rPr>
                        <a:t>Transmission-mode measurement through the earlobe for a stable, motion-tolerant reading in low-resource settings</a:t>
                      </a:r>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2"/>
                  </a:ext>
                </a:extLst>
              </a:tr>
              <a:tr h="950091">
                <a:tc vMerge="1">
                  <a:txBody>
                    <a:bodyPr/>
                    <a:lstStyle/>
                    <a:p>
                      <a:pPr algn="l">
                        <a:lnSpc>
                          <a:spcPts val="1789"/>
                        </a:lnSpc>
                        <a:defRPr/>
                      </a:pPr>
                      <a:r>
                        <a:rPr sz="1100" b="1">
                          <a:solidFill>
                            <a:srgbClr val="000000"/>
                          </a:solidFill>
                          <a:latin typeface="Arial"/>
                        </a:rPr>
                        <a:t>Smartphone clip-on adapter</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F0F0F0"/>
                    </a:solidFill>
                  </a:tcPr>
                </a:tc>
                <a:tc vMerge="1">
                  <a:txBody>
                    <a:bodyPr/>
                    <a:lstStyle/>
                    <a:p>
                      <a:pPr algn="l">
                        <a:lnSpc>
                          <a:spcPts val="1789"/>
                        </a:lnSpc>
                        <a:defRPr/>
                      </a:pPr>
                      <a:r>
                        <a:rPr sz="1050" b="0">
                          <a:solidFill>
                            <a:srgbClr val="000000"/>
                          </a:solidFill>
                          <a:latin typeface="Arial"/>
                        </a:rPr>
                        <a:t>Low-cost optical attachment with a calibration card and companion app for community health workers</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3"/>
                  </a:ext>
                </a:extLst>
              </a:tr>
              <a:tr h="950091">
                <a:tc vMerge="1">
                  <a:txBody>
                    <a:bodyPr/>
                    <a:lstStyle/>
                    <a:p>
                      <a:pPr algn="l">
                        <a:lnSpc>
                          <a:spcPts val="1789"/>
                        </a:lnSpc>
                        <a:defRPr/>
                      </a:pPr>
                      <a:r>
                        <a:rPr sz="1100" b="1">
                          <a:solidFill>
                            <a:srgbClr val="000000"/>
                          </a:solidFill>
                          <a:latin typeface="Arial"/>
                        </a:rPr>
                        <a:t>Ear-clip spectroscopic probe</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F0F0F0"/>
                    </a:solidFill>
                  </a:tcPr>
                </a:tc>
                <a:tc vMerge="1">
                  <a:txBody>
                    <a:bodyPr/>
                    <a:lstStyle/>
                    <a:p>
                      <a:pPr algn="l">
                        <a:lnSpc>
                          <a:spcPts val="1789"/>
                        </a:lnSpc>
                        <a:defRPr/>
                      </a:pPr>
                      <a:r>
                        <a:rPr sz="1050" b="0">
                          <a:solidFill>
                            <a:srgbClr val="000000"/>
                          </a:solidFill>
                          <a:latin typeface="Arial"/>
                        </a:rPr>
                        <a:t>Transmission-mode measurement through the earlobe for a stable, motion-tolerant reading in low-resource settings</a:t>
                      </a:r>
                      <a:endParaRPr lang="en-US" sz="1100"/>
                    </a:p>
                  </a:txBody>
                  <a:tcPr marL="97376" marR="97376" marT="97376" marB="97376">
                    <a:lnL w="5072" cap="flat" cmpd="sng" algn="ctr">
                      <a:solidFill>
                        <a:srgbClr val="000000"/>
                      </a:solidFill>
                      <a:prstDash val="solid"/>
                      <a:round/>
                      <a:headEnd type="none" w="med" len="med"/>
                      <a:tailEnd type="none" w="med" len="med"/>
                    </a:lnL>
                    <a:lnR w="5072" cap="flat" cmpd="sng" algn="ctr">
                      <a:solidFill>
                        <a:srgbClr val="000000"/>
                      </a:solidFill>
                      <a:prstDash val="solid"/>
                      <a:round/>
                      <a:headEnd type="none" w="med" len="med"/>
                      <a:tailEnd type="none" w="med" len="med"/>
                    </a:lnR>
                    <a:lnT w="5072" cap="flat" cmpd="sng" algn="ctr">
                      <a:solidFill>
                        <a:srgbClr val="000000"/>
                      </a:solidFill>
                      <a:prstDash val="solid"/>
                      <a:round/>
                      <a:headEnd type="none" w="med" len="med"/>
                      <a:tailEnd type="none" w="med" len="med"/>
                    </a:lnT>
                    <a:lnB w="5072"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10004"/>
                  </a:ext>
                </a:extLst>
              </a:tr>
            </a:tbl>
          </a:graphicData>
        </a:graphic>
      </p:graphicFrame>
      <p:graphicFrame>
        <p:nvGraphicFramePr>
          <p:cNvPr id="19" name="Table 19"/>
          <p:cNvGraphicFramePr>
            <a:graphicFrameLocks noGrp="1"/>
          </p:cNvGraphicFramePr>
          <p:nvPr/>
        </p:nvGraphicFramePr>
        <p:xfrm>
          <a:off x="9387479" y="5926530"/>
          <a:ext cx="8900521" cy="2948805"/>
        </p:xfrm>
        <a:graphic>
          <a:graphicData uri="http://schemas.openxmlformats.org/drawingml/2006/table">
            <a:tbl>
              <a:tblPr/>
              <a:tblGrid>
                <a:gridCol w="755757">
                  <a:extLst>
                    <a:ext uri="{9D8B030D-6E8A-4147-A177-3AD203B41FA5}">
                      <a16:colId xmlns:a16="http://schemas.microsoft.com/office/drawing/2014/main" val="20000"/>
                    </a:ext>
                  </a:extLst>
                </a:gridCol>
                <a:gridCol w="8144764">
                  <a:extLst>
                    <a:ext uri="{9D8B030D-6E8A-4147-A177-3AD203B41FA5}">
                      <a16:colId xmlns:a16="http://schemas.microsoft.com/office/drawing/2014/main" val="20001"/>
                    </a:ext>
                  </a:extLst>
                </a:gridCol>
              </a:tblGrid>
              <a:tr h="639332">
                <a:tc>
                  <a:txBody>
                    <a:bodyPr/>
                    <a:lstStyle/>
                    <a:p>
                      <a:pPr algn="l">
                        <a:lnSpc>
                          <a:spcPts val="3834"/>
                        </a:lnSpc>
                        <a:defRPr/>
                      </a:pPr>
                      <a:r>
                        <a:rPr lang="en-US" sz="3195">
                          <a:solidFill>
                            <a:srgbClr val="FFFFFF"/>
                          </a:solidFill>
                          <a:latin typeface="Arial"/>
                          <a:ea typeface="Arial"/>
                          <a:cs typeface="Arial"/>
                          <a:sym typeface="Arial"/>
                        </a:rPr>
                        <a:t>#</a:t>
                      </a:r>
                      <a:endParaRPr lang="en-US" sz="1100"/>
                    </a:p>
                  </a:txBody>
                  <a:tcPr marL="73065" marR="73065" marT="73065" marB="73065">
                    <a:lnL w="10145" cap="flat" cmpd="sng" algn="ctr">
                      <a:solidFill>
                        <a:srgbClr val="000000"/>
                      </a:solidFill>
                      <a:prstDash val="solid"/>
                      <a:round/>
                      <a:headEnd type="none" w="med" len="med"/>
                      <a:tailEnd type="none" w="med" len="med"/>
                    </a:lnL>
                    <a:lnR w="13527" cap="flat" cmpd="sng" algn="ctr">
                      <a:solidFill>
                        <a:srgbClr val="FFFFFF"/>
                      </a:solidFill>
                      <a:prstDash val="solid"/>
                      <a:round/>
                      <a:headEnd type="none" w="med" len="med"/>
                      <a:tailEnd type="none" w="med" len="med"/>
                    </a:lnR>
                    <a:lnT w="10145" cap="flat" cmpd="sng" algn="ctr">
                      <a:solidFill>
                        <a:srgbClr val="000000"/>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44546A"/>
                    </a:solidFill>
                  </a:tcPr>
                </a:tc>
                <a:tc>
                  <a:txBody>
                    <a:bodyPr/>
                    <a:lstStyle/>
                    <a:p>
                      <a:pPr algn="l">
                        <a:lnSpc>
                          <a:spcPts val="4089"/>
                        </a:lnSpc>
                        <a:defRPr/>
                      </a:pPr>
                      <a:r>
                        <a:rPr lang="en-US" sz="3408">
                          <a:solidFill>
                            <a:srgbClr val="FFFFFF"/>
                          </a:solidFill>
                          <a:latin typeface="Arial"/>
                          <a:ea typeface="Arial"/>
                          <a:cs typeface="Arial"/>
                          <a:sym typeface="Arial"/>
                        </a:rPr>
                        <a:t>Value Propositions for Proposed Device</a:t>
                      </a:r>
                      <a:endParaRPr lang="en-US" sz="1100"/>
                    </a:p>
                  </a:txBody>
                  <a:tcPr marL="73065" marR="73065" marT="73065" marB="73065">
                    <a:lnL w="13527" cap="flat" cmpd="sng" algn="ctr">
                      <a:solidFill>
                        <a:srgbClr val="FFFFFF"/>
                      </a:solidFill>
                      <a:prstDash val="solid"/>
                      <a:round/>
                      <a:headEnd type="none" w="med" len="med"/>
                      <a:tailEnd type="none" w="med" len="med"/>
                    </a:lnL>
                    <a:lnR w="13527" cap="flat" cmpd="sng" algn="ctr">
                      <a:solidFill>
                        <a:srgbClr val="FFFFFF"/>
                      </a:solidFill>
                      <a:prstDash val="solid"/>
                      <a:round/>
                      <a:headEnd type="none" w="med" len="med"/>
                      <a:tailEnd type="none" w="med" len="med"/>
                    </a:lnR>
                    <a:lnT w="10145" cap="flat" cmpd="sng" algn="ctr">
                      <a:solidFill>
                        <a:srgbClr val="000000"/>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2309473">
                <a:tc>
                  <a:txBody>
                    <a:bodyPr/>
                    <a:lstStyle/>
                    <a:p>
                      <a:pPr algn="l">
                        <a:lnSpc>
                          <a:spcPts val="1789"/>
                        </a:lnSpc>
                        <a:defRPr/>
                      </a:pPr>
                      <a:r>
                        <a:rPr sz="1000" b="0">
                          <a:solidFill>
                            <a:srgbClr val="000000"/>
                          </a:solidFill>
                          <a:latin typeface="Arial"/>
                        </a:rPr>
                        <a:t>1</a:t>
                      </a:r>
                      <a:endParaRPr lang="en-US" sz="1100"/>
                    </a:p>
                  </a:txBody>
                  <a:tcPr marL="73065" marR="73065" marT="73065" marB="73065">
                    <a:lnL w="10145" cap="flat" cmpd="sng" algn="ctr">
                      <a:solidFill>
                        <a:srgbClr val="000000"/>
                      </a:solidFill>
                      <a:prstDash val="solid"/>
                      <a:round/>
                      <a:headEnd type="none" w="med" len="med"/>
                      <a:tailEnd type="none" w="med" len="med"/>
                    </a:lnL>
                    <a:lnR w="13527" cap="flat" cmpd="sng" algn="ctr">
                      <a:solidFill>
                        <a:srgbClr val="FFFFFF"/>
                      </a:solidFill>
                      <a:prstDash val="solid"/>
                      <a:round/>
                      <a:headEnd type="none" w="med" len="med"/>
                      <a:tailEnd type="none" w="med" len="med"/>
                    </a:lnR>
                    <a:lnT w="13527" cap="flat" cmpd="sng" algn="ctr">
                      <a:solidFill>
                        <a:srgbClr val="FFFFFF"/>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FEE599"/>
                    </a:solidFill>
                  </a:tcPr>
                </a:tc>
                <a:tc>
                  <a:txBody>
                    <a:bodyPr/>
                    <a:lstStyle/>
                    <a:p>
                      <a:pPr algn="l">
                        <a:lnSpc>
                          <a:spcPts val="1789"/>
                        </a:lnSpc>
                        <a:defRPr/>
                      </a:pPr>
                      <a:r>
                        <a:rPr sz="1000" b="0">
                          <a:solidFill>
                            <a:srgbClr val="000000"/>
                          </a:solidFill>
                          <a:latin typeface="Arial"/>
                        </a:rPr>
                        <a:t>Eliminates painful blood draws for the majority of screened infants</a:t>
                      </a:r>
                      <a:endParaRPr lang="en-US" sz="1100"/>
                    </a:p>
                    <a:p>
                      <a:r>
                        <a:rPr sz="1000" b="0">
                          <a:solidFill>
                            <a:srgbClr val="000000"/>
                          </a:solidFill>
                          <a:latin typeface="Arial"/>
                        </a:rPr>
                        <a:t>Usable at primary health centres and on home visits, not just in NICUs</a:t>
                      </a:r>
                    </a:p>
                    <a:p>
                      <a:r>
                        <a:rPr sz="1000" b="0">
                          <a:solidFill>
                            <a:srgbClr val="000000"/>
                          </a:solidFill>
                          <a:latin typeface="Arial"/>
                        </a:rPr>
                        <a:t>Lower cost than commercial TcB meters, widening access in resource-limited settings</a:t>
                      </a:r>
                    </a:p>
                    <a:p>
                      <a:r>
                        <a:rPr sz="1000" b="0">
                          <a:solidFill>
                            <a:srgbClr val="000000"/>
                          </a:solidFill>
                          <a:latin typeface="Arial"/>
                        </a:rPr>
                        <a:t>Skin-tone-compensated accuracy, aligned with AAP 2022 removal of race as a risk factor</a:t>
                      </a:r>
                    </a:p>
                    <a:p>
                      <a:r>
                        <a:rPr sz="1000" b="0">
                          <a:solidFill>
                            <a:srgbClr val="000000"/>
                          </a:solidFill>
                          <a:latin typeface="Arial"/>
                        </a:rPr>
                        <a:t>Fast (&lt;10 s) result supporting same-visit clinical decisions</a:t>
                      </a:r>
                    </a:p>
                    <a:p>
                      <a:r>
                        <a:rPr sz="1000" b="0">
                          <a:solidFill>
                            <a:srgbClr val="000000"/>
                          </a:solidFill>
                          <a:latin typeface="Arial"/>
                        </a:rPr>
                        <a:t>Portable, battery-powered and easy to disinfect between patients</a:t>
                      </a:r>
                    </a:p>
                  </a:txBody>
                  <a:tcPr marL="73065" marR="73065" marT="73065" marB="73065">
                    <a:lnL w="13527" cap="flat" cmpd="sng" algn="ctr">
                      <a:solidFill>
                        <a:srgbClr val="FFFFFF"/>
                      </a:solidFill>
                      <a:prstDash val="solid"/>
                      <a:round/>
                      <a:headEnd type="none" w="med" len="med"/>
                      <a:tailEnd type="none" w="med" len="med"/>
                    </a:lnL>
                    <a:lnR w="13527" cap="flat" cmpd="sng" algn="ctr">
                      <a:solidFill>
                        <a:srgbClr val="FFFFFF"/>
                      </a:solidFill>
                      <a:prstDash val="solid"/>
                      <a:round/>
                      <a:headEnd type="none" w="med" len="med"/>
                      <a:tailEnd type="none" w="med" len="med"/>
                    </a:lnR>
                    <a:lnT w="13527" cap="flat" cmpd="sng" algn="ctr">
                      <a:solidFill>
                        <a:srgbClr val="FFFFFF"/>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bl>
          </a:graphicData>
        </a:graphic>
      </p:graphicFrame>
      <p:graphicFrame>
        <p:nvGraphicFramePr>
          <p:cNvPr id="20" name="Table 20"/>
          <p:cNvGraphicFramePr>
            <a:graphicFrameLocks noGrp="1"/>
          </p:cNvGraphicFramePr>
          <p:nvPr/>
        </p:nvGraphicFramePr>
        <p:xfrm>
          <a:off x="6" y="5906139"/>
          <a:ext cx="9387480" cy="2975858"/>
        </p:xfrm>
        <a:graphic>
          <a:graphicData uri="http://schemas.openxmlformats.org/drawingml/2006/table">
            <a:tbl>
              <a:tblPr/>
              <a:tblGrid>
                <a:gridCol w="770636">
                  <a:extLst>
                    <a:ext uri="{9D8B030D-6E8A-4147-A177-3AD203B41FA5}">
                      <a16:colId xmlns:a16="http://schemas.microsoft.com/office/drawing/2014/main" val="20000"/>
                    </a:ext>
                  </a:extLst>
                </a:gridCol>
                <a:gridCol w="8616844">
                  <a:extLst>
                    <a:ext uri="{9D8B030D-6E8A-4147-A177-3AD203B41FA5}">
                      <a16:colId xmlns:a16="http://schemas.microsoft.com/office/drawing/2014/main" val="20001"/>
                    </a:ext>
                  </a:extLst>
                </a:gridCol>
              </a:tblGrid>
              <a:tr h="633727">
                <a:tc>
                  <a:txBody>
                    <a:bodyPr/>
                    <a:lstStyle/>
                    <a:p>
                      <a:pPr algn="l">
                        <a:lnSpc>
                          <a:spcPts val="4089"/>
                        </a:lnSpc>
                        <a:defRPr/>
                      </a:pPr>
                      <a:r>
                        <a:rPr lang="en-US" sz="3408">
                          <a:solidFill>
                            <a:srgbClr val="FFFFFF"/>
                          </a:solidFill>
                          <a:latin typeface="Arial"/>
                          <a:ea typeface="Arial"/>
                          <a:cs typeface="Arial"/>
                          <a:sym typeface="Arial"/>
                        </a:rPr>
                        <a:t>#</a:t>
                      </a:r>
                      <a:endParaRPr lang="en-US" sz="1100"/>
                    </a:p>
                  </a:txBody>
                  <a:tcPr marL="73065" marR="73065" marT="73065" marB="73065">
                    <a:lnL w="10145" cap="flat" cmpd="sng" algn="ctr">
                      <a:solidFill>
                        <a:srgbClr val="000000"/>
                      </a:solidFill>
                      <a:prstDash val="solid"/>
                      <a:round/>
                      <a:headEnd type="none" w="med" len="med"/>
                      <a:tailEnd type="none" w="med" len="med"/>
                    </a:lnL>
                    <a:lnR w="13527" cap="flat" cmpd="sng" algn="ctr">
                      <a:solidFill>
                        <a:srgbClr val="FFFFFF"/>
                      </a:solidFill>
                      <a:prstDash val="solid"/>
                      <a:round/>
                      <a:headEnd type="none" w="med" len="med"/>
                      <a:tailEnd type="none" w="med" len="med"/>
                    </a:lnR>
                    <a:lnT w="10145" cap="flat" cmpd="sng" algn="ctr">
                      <a:solidFill>
                        <a:srgbClr val="000000"/>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44546A"/>
                    </a:solidFill>
                  </a:tcPr>
                </a:tc>
                <a:tc>
                  <a:txBody>
                    <a:bodyPr/>
                    <a:lstStyle/>
                    <a:p>
                      <a:pPr algn="l">
                        <a:lnSpc>
                          <a:spcPts val="4089"/>
                        </a:lnSpc>
                        <a:defRPr/>
                      </a:pPr>
                      <a:r>
                        <a:rPr lang="en-US" sz="3408">
                          <a:solidFill>
                            <a:srgbClr val="FFFFFF"/>
                          </a:solidFill>
                          <a:latin typeface="Arial"/>
                          <a:ea typeface="Arial"/>
                          <a:cs typeface="Arial"/>
                          <a:sym typeface="Arial"/>
                        </a:rPr>
                        <a:t>Key Features of Proposed Device</a:t>
                      </a:r>
                      <a:endParaRPr lang="en-US" sz="1100"/>
                    </a:p>
                  </a:txBody>
                  <a:tcPr marL="73065" marR="73065" marT="73065" marB="73065">
                    <a:lnL w="13527" cap="flat" cmpd="sng" algn="ctr">
                      <a:solidFill>
                        <a:srgbClr val="FFFFFF"/>
                      </a:solidFill>
                      <a:prstDash val="solid"/>
                      <a:round/>
                      <a:headEnd type="none" w="med" len="med"/>
                      <a:tailEnd type="none" w="med" len="med"/>
                    </a:lnL>
                    <a:lnR w="13527" cap="flat" cmpd="sng" algn="ctr">
                      <a:solidFill>
                        <a:srgbClr val="FFFFFF"/>
                      </a:solidFill>
                      <a:prstDash val="solid"/>
                      <a:round/>
                      <a:headEnd type="none" w="med" len="med"/>
                      <a:tailEnd type="none" w="med" len="med"/>
                    </a:lnR>
                    <a:lnT w="10145" cap="flat" cmpd="sng" algn="ctr">
                      <a:solidFill>
                        <a:srgbClr val="000000"/>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44546A"/>
                    </a:solidFill>
                  </a:tcPr>
                </a:tc>
                <a:extLst>
                  <a:ext uri="{0D108BD9-81ED-4DB2-BD59-A6C34878D82A}">
                    <a16:rowId xmlns:a16="http://schemas.microsoft.com/office/drawing/2014/main" val="10000"/>
                  </a:ext>
                </a:extLst>
              </a:tr>
              <a:tr h="2342131">
                <a:tc>
                  <a:txBody>
                    <a:bodyPr/>
                    <a:lstStyle/>
                    <a:p>
                      <a:pPr algn="l">
                        <a:lnSpc>
                          <a:spcPts val="1789"/>
                        </a:lnSpc>
                        <a:defRPr/>
                      </a:pPr>
                      <a:r>
                        <a:rPr sz="1000" b="0">
                          <a:solidFill>
                            <a:srgbClr val="000000"/>
                          </a:solidFill>
                          <a:latin typeface="Arial"/>
                        </a:rPr>
                        <a:t>1</a:t>
                      </a:r>
                      <a:endParaRPr lang="en-US" sz="1100"/>
                    </a:p>
                  </a:txBody>
                  <a:tcPr marL="73065" marR="73065" marT="73065" marB="73065">
                    <a:lnL w="10145" cap="flat" cmpd="sng" algn="ctr">
                      <a:solidFill>
                        <a:srgbClr val="000000"/>
                      </a:solidFill>
                      <a:prstDash val="solid"/>
                      <a:round/>
                      <a:headEnd type="none" w="med" len="med"/>
                      <a:tailEnd type="none" w="med" len="med"/>
                    </a:lnL>
                    <a:lnR w="13527" cap="flat" cmpd="sng" algn="ctr">
                      <a:solidFill>
                        <a:srgbClr val="FFFFFF"/>
                      </a:solidFill>
                      <a:prstDash val="solid"/>
                      <a:round/>
                      <a:headEnd type="none" w="med" len="med"/>
                      <a:tailEnd type="none" w="med" len="med"/>
                    </a:lnR>
                    <a:lnT w="13527" cap="flat" cmpd="sng" algn="ctr">
                      <a:solidFill>
                        <a:srgbClr val="FFFFFF"/>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FEE599"/>
                    </a:solidFill>
                  </a:tcPr>
                </a:tc>
                <a:tc>
                  <a:txBody>
                    <a:bodyPr/>
                    <a:lstStyle/>
                    <a:p>
                      <a:pPr algn="l">
                        <a:lnSpc>
                          <a:spcPts val="1789"/>
                        </a:lnSpc>
                        <a:defRPr/>
                      </a:pPr>
                      <a:r>
                        <a:rPr sz="1000" b="0">
                          <a:solidFill>
                            <a:srgbClr val="000000"/>
                          </a:solidFill>
                          <a:latin typeface="Arial"/>
                        </a:rPr>
                        <a:t>Dual/multi-wavelength optical sensing (455 nm &amp; 575 nm LEDs) with photodiode detector</a:t>
                      </a:r>
                      <a:endParaRPr lang="en-US" sz="1100"/>
                    </a:p>
                    <a:p>
                      <a:r>
                        <a:rPr sz="1000" b="0">
                          <a:solidFill>
                            <a:srgbClr val="000000"/>
                          </a:solidFill>
                          <a:latin typeface="Arial"/>
                        </a:rPr>
                        <a:t>On-board microcontroller running a melanin-compensation estimation algorithm</a:t>
                      </a:r>
                    </a:p>
                    <a:p>
                      <a:r>
                        <a:rPr sz="1000" b="0">
                          <a:solidFill>
                            <a:srgbClr val="000000"/>
                          </a:solidFill>
                          <a:latin typeface="Arial"/>
                        </a:rPr>
                        <a:t>Illuminated display/indicator showing a bilirubin-correlated value and risk flag</a:t>
                      </a:r>
                    </a:p>
                    <a:p>
                      <a:r>
                        <a:rPr sz="1000" b="0">
                          <a:solidFill>
                            <a:srgbClr val="000000"/>
                          </a:solidFill>
                          <a:latin typeface="Arial"/>
                        </a:rPr>
                        <a:t>Rechargeable Li-ion battery with charging dock, ≥ 8 h runtime</a:t>
                      </a:r>
                    </a:p>
                    <a:p>
                      <a:r>
                        <a:rPr sz="1000" b="0">
                          <a:solidFill>
                            <a:srgbClr val="000000"/>
                          </a:solidFill>
                          <a:latin typeface="Arial"/>
                        </a:rPr>
                        <a:t>Bluetooth Low Energy data export to an EMR/health-worker app</a:t>
                      </a:r>
                    </a:p>
                    <a:p>
                      <a:r>
                        <a:rPr sz="1000" b="0">
                          <a:solidFill>
                            <a:srgbClr val="000000"/>
                          </a:solidFill>
                          <a:latin typeface="Arial"/>
                        </a:rPr>
                        <a:t>Ergonomic single-hand pen-style body with a wipeable, biocompatible probe tip</a:t>
                      </a:r>
                    </a:p>
                    <a:p>
                      <a:r>
                        <a:rPr sz="1000" b="0">
                          <a:solidFill>
                            <a:srgbClr val="000000"/>
                          </a:solidFill>
                          <a:latin typeface="Arial"/>
                        </a:rPr>
                        <a:t>Auto-calibration and self-test routine on power-up</a:t>
                      </a:r>
                    </a:p>
                  </a:txBody>
                  <a:tcPr marL="73065" marR="73065" marT="73065" marB="73065">
                    <a:lnL w="13527" cap="flat" cmpd="sng" algn="ctr">
                      <a:solidFill>
                        <a:srgbClr val="FFFFFF"/>
                      </a:solidFill>
                      <a:prstDash val="solid"/>
                      <a:round/>
                      <a:headEnd type="none" w="med" len="med"/>
                      <a:tailEnd type="none" w="med" len="med"/>
                    </a:lnL>
                    <a:lnR w="13527" cap="flat" cmpd="sng" algn="ctr">
                      <a:solidFill>
                        <a:srgbClr val="FFFFFF"/>
                      </a:solidFill>
                      <a:prstDash val="solid"/>
                      <a:round/>
                      <a:headEnd type="none" w="med" len="med"/>
                      <a:tailEnd type="none" w="med" len="med"/>
                    </a:lnR>
                    <a:lnT w="13527" cap="flat" cmpd="sng" algn="ctr">
                      <a:solidFill>
                        <a:srgbClr val="FFFFFF"/>
                      </a:solidFill>
                      <a:prstDash val="solid"/>
                      <a:round/>
                      <a:headEnd type="none" w="med" len="med"/>
                      <a:tailEnd type="none" w="med" len="med"/>
                    </a:lnT>
                    <a:lnB w="13527" cap="flat" cmpd="sng" algn="ctr">
                      <a:solidFill>
                        <a:srgbClr val="FFFFFF"/>
                      </a:solidFill>
                      <a:prstDash val="solid"/>
                      <a:round/>
                      <a:headEnd type="none" w="med" len="med"/>
                      <a:tailEnd type="none" w="med" len="med"/>
                    </a:lnB>
                    <a:solidFill>
                      <a:srgbClr val="F0F0F0"/>
                    </a:solidFill>
                  </a:tcPr>
                </a:tc>
                <a:extLst>
                  <a:ext uri="{0D108BD9-81ED-4DB2-BD59-A6C34878D82A}">
                    <a16:rowId xmlns:a16="http://schemas.microsoft.com/office/drawing/2014/main" val="10001"/>
                  </a:ext>
                </a:extLst>
              </a:tr>
            </a:tbl>
          </a:graphicData>
        </a:graphic>
      </p:graphicFrame>
      <p:grpSp>
        <p:nvGrpSpPr>
          <p:cNvPr id="21" name="Group 21"/>
          <p:cNvGrpSpPr/>
          <p:nvPr/>
        </p:nvGrpSpPr>
        <p:grpSpPr>
          <a:xfrm>
            <a:off x="355185" y="9014381"/>
            <a:ext cx="17654292" cy="1633747"/>
            <a:chOff x="0" y="0"/>
            <a:chExt cx="23539056" cy="2178329"/>
          </a:xfrm>
        </p:grpSpPr>
        <p:sp>
          <p:nvSpPr>
            <p:cNvPr id="22" name="Freeform 22"/>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3" name="Freeform 23"/>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4" name="Freeform 24"/>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5" name="Freeform 25"/>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6" name="Freeform 26"/>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7" name="Freeform 27"/>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8" name="Freeform 28"/>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9" name="Freeform 29"/>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327422" y="140056"/>
            <a:ext cx="605609" cy="767429"/>
            <a:chOff x="0" y="0"/>
            <a:chExt cx="807479" cy="1023239"/>
          </a:xfrm>
        </p:grpSpPr>
        <p:sp>
          <p:nvSpPr>
            <p:cNvPr id="9" name="Freeform 9"/>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5"/>
              <a:stretch>
                <a:fillRect r="-1"/>
              </a:stretch>
            </a:blipFill>
          </p:spPr>
        </p:sp>
      </p:grpSp>
      <p:grpSp>
        <p:nvGrpSpPr>
          <p:cNvPr id="10" name="Group 10"/>
          <p:cNvGrpSpPr/>
          <p:nvPr/>
        </p:nvGrpSpPr>
        <p:grpSpPr>
          <a:xfrm>
            <a:off x="17330528" y="21374"/>
            <a:ext cx="815997" cy="886196"/>
            <a:chOff x="0" y="0"/>
            <a:chExt cx="1087996" cy="1181595"/>
          </a:xfrm>
        </p:grpSpPr>
        <p:sp>
          <p:nvSpPr>
            <p:cNvPr id="11" name="Freeform 11"/>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2" name="Group 12"/>
          <p:cNvGrpSpPr/>
          <p:nvPr/>
        </p:nvGrpSpPr>
        <p:grpSpPr>
          <a:xfrm>
            <a:off x="1220753" y="21603"/>
            <a:ext cx="12729000" cy="1004402"/>
            <a:chOff x="0" y="0"/>
            <a:chExt cx="16972001" cy="1339202"/>
          </a:xfrm>
        </p:grpSpPr>
        <p:sp>
          <p:nvSpPr>
            <p:cNvPr id="13" name="Freeform 13"/>
            <p:cNvSpPr/>
            <p:nvPr/>
          </p:nvSpPr>
          <p:spPr>
            <a:xfrm>
              <a:off x="0" y="0"/>
              <a:ext cx="16972000" cy="1339200"/>
            </a:xfrm>
            <a:custGeom>
              <a:avLst/>
              <a:gdLst/>
              <a:ahLst/>
              <a:cxnLst/>
              <a:rect l="l" t="t" r="r" b="b"/>
              <a:pathLst>
                <a:path w="16972000" h="1339200">
                  <a:moveTo>
                    <a:pt x="0" y="0"/>
                  </a:moveTo>
                  <a:lnTo>
                    <a:pt x="16972000" y="0"/>
                  </a:lnTo>
                  <a:lnTo>
                    <a:pt x="16972000" y="1339200"/>
                  </a:lnTo>
                  <a:lnTo>
                    <a:pt x="0" y="1339200"/>
                  </a:lnTo>
                  <a:close/>
                </a:path>
              </a:pathLst>
            </a:custGeom>
            <a:blipFill>
              <a:blip r:embed="rId6">
                <a:alphaModFix amt="0"/>
              </a:blip>
              <a:stretch>
                <a:fillRect t="-196938" b="-196938"/>
              </a:stretch>
            </a:blipFill>
          </p:spPr>
        </p:sp>
        <p:sp>
          <p:nvSpPr>
            <p:cNvPr id="14" name="TextBox 14"/>
            <p:cNvSpPr txBox="1"/>
            <p:nvPr/>
          </p:nvSpPr>
          <p:spPr>
            <a:xfrm>
              <a:off x="0" y="-85725"/>
              <a:ext cx="16972001"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Tentative Development Cost</a:t>
              </a:r>
            </a:p>
          </p:txBody>
        </p:sp>
      </p:grpSp>
      <p:grpSp>
        <p:nvGrpSpPr>
          <p:cNvPr id="15" name="Group 15"/>
          <p:cNvGrpSpPr/>
          <p:nvPr/>
        </p:nvGrpSpPr>
        <p:grpSpPr>
          <a:xfrm>
            <a:off x="14807355" y="4048"/>
            <a:ext cx="2945997" cy="1000201"/>
            <a:chOff x="0" y="0"/>
            <a:chExt cx="3927996" cy="1333602"/>
          </a:xfrm>
        </p:grpSpPr>
        <p:sp>
          <p:nvSpPr>
            <p:cNvPr id="16" name="Freeform 16"/>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6">
                <a:alphaModFix amt="0"/>
              </a:blip>
              <a:stretch>
                <a:fillRect t="-7391" b="-7391"/>
              </a:stretch>
            </a:blipFill>
          </p:spPr>
        </p:sp>
        <p:sp>
          <p:nvSpPr>
            <p:cNvPr id="17" name="TextBox 17"/>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aphicFrame>
        <p:nvGraphicFramePr>
          <p:cNvPr id="18" name="Table 18"/>
          <p:cNvGraphicFramePr>
            <a:graphicFrameLocks noGrp="1"/>
          </p:cNvGraphicFramePr>
          <p:nvPr/>
        </p:nvGraphicFramePr>
        <p:xfrm>
          <a:off x="-50" y="1150700"/>
          <a:ext cx="18262600" cy="7594600"/>
        </p:xfrm>
        <a:graphic>
          <a:graphicData uri="http://schemas.openxmlformats.org/drawingml/2006/table">
            <a:tbl>
              <a:tblPr/>
              <a:tblGrid>
                <a:gridCol w="794406">
                  <a:extLst>
                    <a:ext uri="{9D8B030D-6E8A-4147-A177-3AD203B41FA5}">
                      <a16:colId xmlns:a16="http://schemas.microsoft.com/office/drawing/2014/main" val="20000"/>
                    </a:ext>
                  </a:extLst>
                </a:gridCol>
                <a:gridCol w="4192574">
                  <a:extLst>
                    <a:ext uri="{9D8B030D-6E8A-4147-A177-3AD203B41FA5}">
                      <a16:colId xmlns:a16="http://schemas.microsoft.com/office/drawing/2014/main" val="20001"/>
                    </a:ext>
                  </a:extLst>
                </a:gridCol>
                <a:gridCol w="4260817">
                  <a:extLst>
                    <a:ext uri="{9D8B030D-6E8A-4147-A177-3AD203B41FA5}">
                      <a16:colId xmlns:a16="http://schemas.microsoft.com/office/drawing/2014/main" val="20002"/>
                    </a:ext>
                  </a:extLst>
                </a:gridCol>
                <a:gridCol w="4507401">
                  <a:extLst>
                    <a:ext uri="{9D8B030D-6E8A-4147-A177-3AD203B41FA5}">
                      <a16:colId xmlns:a16="http://schemas.microsoft.com/office/drawing/2014/main" val="20003"/>
                    </a:ext>
                  </a:extLst>
                </a:gridCol>
                <a:gridCol w="4507401">
                  <a:extLst>
                    <a:ext uri="{9D8B030D-6E8A-4147-A177-3AD203B41FA5}">
                      <a16:colId xmlns:a16="http://schemas.microsoft.com/office/drawing/2014/main" val="20004"/>
                    </a:ext>
                  </a:extLst>
                </a:gridCol>
              </a:tblGrid>
              <a:tr h="766832">
                <a:tc>
                  <a:txBody>
                    <a:bodyPr/>
                    <a:lstStyle/>
                    <a:p>
                      <a:pPr algn="l">
                        <a:lnSpc>
                          <a:spcPts val="2879"/>
                        </a:lnSpc>
                        <a:defRPr/>
                      </a:pPr>
                      <a:r>
                        <a:rPr lang="en-US" sz="2400">
                          <a:solidFill>
                            <a:srgbClr val="000000"/>
                          </a:solidFill>
                          <a:latin typeface="Calibri (MS)"/>
                          <a:ea typeface="Calibri (MS)"/>
                          <a:cs typeface="Calibri (MS)"/>
                          <a:sym typeface="Calibri (MS)"/>
                        </a:rPr>
                        <a:t>#</a:t>
                      </a:r>
                      <a:endParaRPr lang="en-US" sz="1100"/>
                    </a:p>
                  </a:txBody>
                  <a:tcPr marL="91425" marR="91425" marT="91425" marB="91425">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E0E0E0"/>
                    </a:solidFill>
                  </a:tcPr>
                </a:tc>
                <a:tc>
                  <a:txBody>
                    <a:bodyPr/>
                    <a:lstStyle/>
                    <a:p>
                      <a:pPr algn="l">
                        <a:lnSpc>
                          <a:spcPts val="2879"/>
                        </a:lnSpc>
                        <a:defRPr/>
                      </a:pPr>
                      <a:r>
                        <a:rPr lang="en-US" sz="2400" b="1">
                          <a:solidFill>
                            <a:srgbClr val="3F3F3F"/>
                          </a:solidFill>
                          <a:latin typeface="Calibri (MS) Bold"/>
                          <a:ea typeface="Calibri (MS) Bold"/>
                          <a:cs typeface="Calibri (MS) Bold"/>
                          <a:sym typeface="Calibri (MS) Bold"/>
                        </a:rPr>
                        <a:t>Electronics &amp; Software</a:t>
                      </a:r>
                      <a:endParaRPr lang="en-US" sz="1100"/>
                    </a:p>
                  </a:txBody>
                  <a:tcPr marL="91425" marR="91425" marT="91425" marB="91425">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E0E0E0"/>
                    </a:solidFill>
                  </a:tcPr>
                </a:tc>
                <a:extLst>
                  <a:ext uri="{0D108BD9-81ED-4DB2-BD59-A6C34878D82A}">
                    <a16:rowId xmlns:a16="http://schemas.microsoft.com/office/drawing/2014/main" val="10000"/>
                  </a:ext>
                </a:extLst>
              </a:tr>
              <a:tr h="699553">
                <a:tc>
                  <a:txBody>
                    <a:bodyPr/>
                    <a:lstStyle/>
                    <a:p>
                      <a:pPr algn="l">
                        <a:lnSpc>
                          <a:spcPts val="1679"/>
                        </a:lnSpc>
                        <a:defRPr/>
                      </a:pPr>
                      <a:r>
                        <a:rPr sz="900" b="0">
                          <a:solidFill>
                            <a:srgbClr val="000000"/>
                          </a:solidFill>
                          <a:latin typeface="Arial"/>
                        </a:rPr>
                        <a:t>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9525" cap="flat" cmpd="sng" algn="ctr">
                      <a:solidFill>
                        <a:srgbClr val="666666"/>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Optical sensor module: dual-wavelength LED (455/575 nm) + photodiode, MCU, PCB</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9525" cap="flat" cmpd="sng" algn="ctr">
                      <a:solidFill>
                        <a:srgbClr val="666666"/>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9525" cap="flat" cmpd="sng" algn="ctr">
                      <a:solidFill>
                        <a:srgbClr val="666666"/>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₹8,000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9525" cap="flat" cmpd="sng" algn="ctr">
                      <a:solidFill>
                        <a:srgbClr val="666666"/>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1">
                          <a:solidFill>
                            <a:srgbClr val="000000"/>
                          </a:solidFill>
                          <a:latin typeface="Arial"/>
                        </a:rPr>
                        <a:t>₹8,000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9525" cap="flat" cmpd="sng" algn="ctr">
                      <a:solidFill>
                        <a:srgbClr val="666666"/>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1"/>
                  </a:ext>
                </a:extLst>
              </a:tr>
              <a:tr h="680913">
                <a:tc>
                  <a:txBody>
                    <a:bodyPr/>
                    <a:lstStyle/>
                    <a:p>
                      <a:pPr algn="l">
                        <a:lnSpc>
                          <a:spcPts val="1679"/>
                        </a:lnSpc>
                        <a:defRPr/>
                      </a:pPr>
                      <a:r>
                        <a:rPr sz="900" b="0">
                          <a:solidFill>
                            <a:srgbClr val="000000"/>
                          </a:solidFill>
                          <a:latin typeface="Arial"/>
                        </a:rPr>
                        <a:t>2</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Firmware, calibration algorithm &amp; BLE/app integration</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1">
                          <a:solidFill>
                            <a:srgbClr val="000000"/>
                          </a:solidFill>
                          <a:latin typeface="Arial"/>
                        </a:rPr>
                        <a:t>₹12,000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680913">
                <a:tc>
                  <a:txBody>
                    <a:bodyPr/>
                    <a:lstStyle/>
                    <a:p>
                      <a:pPr algn="l">
                        <a:lnSpc>
                          <a:spcPts val="2879"/>
                        </a:lnSpc>
                        <a:defRPr/>
                      </a:pPr>
                      <a:r>
                        <a:rPr lang="en-US" sz="2400">
                          <a:solidFill>
                            <a:srgbClr val="000000"/>
                          </a:solidFill>
                          <a:latin typeface="Calibri (MS)"/>
                          <a:ea typeface="Calibri (MS)"/>
                          <a:cs typeface="Calibri (MS)"/>
                          <a:sym typeface="Calibri (MS)"/>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2879"/>
                        </a:lnSpc>
                        <a:defRPr/>
                      </a:pPr>
                      <a:r>
                        <a:rPr lang="en-US" sz="2400" b="1">
                          <a:solidFill>
                            <a:srgbClr val="3F3F3F"/>
                          </a:solidFill>
                          <a:latin typeface="Calibri (MS) Bold"/>
                          <a:ea typeface="Calibri (MS) Bold"/>
                          <a:cs typeface="Calibri (MS) Bold"/>
                          <a:sym typeface="Calibri (MS) Bold"/>
                        </a:rPr>
                        <a:t>Mechanical</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3"/>
                  </a:ext>
                </a:extLst>
              </a:tr>
              <a:tr h="680913">
                <a:tc>
                  <a:txBody>
                    <a:bodyPr/>
                    <a:lstStyle/>
                    <a:p>
                      <a:pPr algn="l">
                        <a:lnSpc>
                          <a:spcPts val="1679"/>
                        </a:lnSpc>
                        <a:defRPr/>
                      </a:pPr>
                      <a:r>
                        <a:rPr sz="900" b="0">
                          <a:solidFill>
                            <a:srgbClr val="000000"/>
                          </a:solidFill>
                          <a:latin typeface="Arial"/>
                        </a:rPr>
                        <a:t>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Enclosure, probe tip &amp; display housing (3D-printed prototype)</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1 set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₹5,000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1">
                          <a:solidFill>
                            <a:srgbClr val="000000"/>
                          </a:solidFill>
                          <a:latin typeface="Arial"/>
                        </a:rPr>
                        <a:t>₹5,000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680913">
                <a:tc>
                  <a:txBody>
                    <a:bodyPr/>
                    <a:lstStyle/>
                    <a:p>
                      <a:pPr algn="l">
                        <a:lnSpc>
                          <a:spcPts val="1679"/>
                        </a:lnSpc>
                        <a:defRPr/>
                      </a:pPr>
                      <a:r>
                        <a:rPr sz="900" b="0">
                          <a:solidFill>
                            <a:srgbClr val="000000"/>
                          </a:solidFill>
                          <a:latin typeface="Arial"/>
                        </a:rPr>
                        <a:t>2</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Battery, charging dock circuit &amp; assembly hardware</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1 set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₹3,000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1">
                          <a:solidFill>
                            <a:srgbClr val="000000"/>
                          </a:solidFill>
                          <a:latin typeface="Arial"/>
                        </a:rPr>
                        <a:t>₹3,000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5"/>
                  </a:ext>
                </a:extLst>
              </a:tr>
              <a:tr h="680913">
                <a:tc>
                  <a:txBody>
                    <a:bodyPr/>
                    <a:lstStyle/>
                    <a:p>
                      <a:pPr algn="l">
                        <a:lnSpc>
                          <a:spcPts val="2879"/>
                        </a:lnSpc>
                        <a:defRPr/>
                      </a:pPr>
                      <a:r>
                        <a:rPr lang="en-US" sz="2400">
                          <a:solidFill>
                            <a:srgbClr val="000000"/>
                          </a:solidFill>
                          <a:latin typeface="Calibri (MS)"/>
                          <a:ea typeface="Calibri (MS)"/>
                          <a:cs typeface="Calibri (MS)"/>
                          <a:sym typeface="Calibri (MS)"/>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2879"/>
                        </a:lnSpc>
                        <a:defRPr/>
                      </a:pPr>
                      <a:r>
                        <a:rPr lang="en-US" sz="2400" b="1">
                          <a:solidFill>
                            <a:srgbClr val="3F3F3F"/>
                          </a:solidFill>
                          <a:latin typeface="Calibri (MS) Bold"/>
                          <a:ea typeface="Calibri (MS) Bold"/>
                          <a:cs typeface="Calibri (MS) Bold"/>
                          <a:sym typeface="Calibri (MS) Bold"/>
                        </a:rPr>
                        <a:t>Testing</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r h="680913">
                <a:tc>
                  <a:txBody>
                    <a:bodyPr/>
                    <a:lstStyle/>
                    <a:p>
                      <a:pPr algn="l">
                        <a:lnSpc>
                          <a:spcPts val="1679"/>
                        </a:lnSpc>
                        <a:defRPr/>
                      </a:pPr>
                      <a:r>
                        <a:rPr sz="900" b="0">
                          <a:solidFill>
                            <a:srgbClr val="000000"/>
                          </a:solidFill>
                          <a:latin typeface="Arial"/>
                        </a:rPr>
                        <a:t>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Bench validation vs. reference TSB/lab bilirubinometer, EMC &amp; electrical-safety pre-check</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1">
                          <a:solidFill>
                            <a:srgbClr val="000000"/>
                          </a:solidFill>
                          <a:latin typeface="Arial"/>
                        </a:rPr>
                        <a:t>₹6,000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7"/>
                  </a:ext>
                </a:extLst>
              </a:tr>
              <a:tr h="680913">
                <a:tc>
                  <a:txBody>
                    <a:bodyPr/>
                    <a:lstStyle/>
                    <a:p>
                      <a:pPr algn="l">
                        <a:lnSpc>
                          <a:spcPts val="2879"/>
                        </a:lnSpc>
                        <a:defRPr/>
                      </a:pPr>
                      <a:r>
                        <a:rPr lang="en-US" sz="2400">
                          <a:solidFill>
                            <a:srgbClr val="000000"/>
                          </a:solidFill>
                          <a:latin typeface="Calibri (MS)"/>
                          <a:ea typeface="Calibri (MS)"/>
                          <a:cs typeface="Calibri (MS)"/>
                          <a:sym typeface="Calibri (MS)"/>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2879"/>
                        </a:lnSpc>
                        <a:defRPr/>
                      </a:pPr>
                      <a:r>
                        <a:rPr lang="en-US" sz="2400" b="1">
                          <a:solidFill>
                            <a:srgbClr val="3F3F3F"/>
                          </a:solidFill>
                          <a:latin typeface="Calibri (MS) Bold"/>
                          <a:ea typeface="Calibri (MS) Bold"/>
                          <a:cs typeface="Calibri (MS) Bold"/>
                          <a:sym typeface="Calibri (MS) Bold"/>
                        </a:rPr>
                        <a:t>Human Resource</a:t>
                      </a:r>
                      <a:r>
                        <a:rPr lang="en-US" sz="2400">
                          <a:solidFill>
                            <a:srgbClr val="3F3F3F"/>
                          </a:solidFill>
                          <a:latin typeface="Calibri (MS)"/>
                          <a:ea typeface="Calibri (MS)"/>
                          <a:cs typeface="Calibri (MS)"/>
                          <a:sym typeface="Calibri (MS)"/>
                        </a:rPr>
                        <a:t> </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1">
                          <a:solidFill>
                            <a:srgbClr val="000000"/>
                          </a:solidFill>
                          <a:latin typeface="Arial"/>
                        </a:rPr>
                        <a:t>₹0 (student team, in-kind faculty mentorship)</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8"/>
                  </a:ext>
                </a:extLst>
              </a:tr>
              <a:tr h="680913">
                <a:tc>
                  <a:txBody>
                    <a:bodyPr/>
                    <a:lstStyle/>
                    <a:p>
                      <a:pPr algn="l">
                        <a:lnSpc>
                          <a:spcPts val="2879"/>
                        </a:lnSpc>
                        <a:defRPr/>
                      </a:pPr>
                      <a:r>
                        <a:rPr lang="en-US" sz="2400">
                          <a:solidFill>
                            <a:srgbClr val="000000"/>
                          </a:solidFill>
                          <a:latin typeface="Calibri (MS)"/>
                          <a:ea typeface="Calibri (MS)"/>
                          <a:cs typeface="Calibri (MS)"/>
                          <a:sym typeface="Calibri (MS)"/>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2879"/>
                        </a:lnSpc>
                        <a:defRPr/>
                      </a:pPr>
                      <a:r>
                        <a:rPr lang="en-US" sz="2400" b="1">
                          <a:solidFill>
                            <a:srgbClr val="3F3F3F"/>
                          </a:solidFill>
                          <a:latin typeface="Calibri (MS) Bold"/>
                          <a:ea typeface="Calibri (MS) Bold"/>
                          <a:cs typeface="Calibri (MS) Bold"/>
                          <a:sym typeface="Calibri (MS) Bold"/>
                        </a:rPr>
                        <a:t>Contingency</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0">
                          <a:solidFill>
                            <a:srgbClr val="000000"/>
                          </a:solidFill>
                          <a:latin typeface="Arial"/>
                        </a:rPr>
                        <a:t>10%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900" b="1">
                          <a:solidFill>
                            <a:srgbClr val="000000"/>
                          </a:solidFill>
                          <a:latin typeface="Arial"/>
                        </a:rPr>
                        <a:t>₹3,400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09"/>
                  </a:ext>
                </a:extLst>
              </a:tr>
              <a:tr h="680913">
                <a:tc>
                  <a:txBody>
                    <a:bodyPr/>
                    <a:lstStyle/>
                    <a:p>
                      <a:pPr algn="l">
                        <a:lnSpc>
                          <a:spcPts val="1679"/>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gridSpan="3">
                  <a:txBody>
                    <a:bodyPr/>
                    <a:lstStyle/>
                    <a:p>
                      <a:pPr algn="l">
                        <a:lnSpc>
                          <a:spcPts val="2879"/>
                        </a:lnSpc>
                        <a:defRPr/>
                      </a:pPr>
                      <a:r>
                        <a:rPr lang="en-US" sz="2400" b="1">
                          <a:solidFill>
                            <a:srgbClr val="3F3F3F"/>
                          </a:solidFill>
                          <a:latin typeface="Calibri (MS) Bold"/>
                          <a:ea typeface="Calibri (MS) Bold"/>
                          <a:cs typeface="Calibri (MS) Bold"/>
                          <a:sym typeface="Calibri (MS) Bold"/>
                        </a:rPr>
                        <a:t>Total Project Cost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hMerge="1">
                  <a:txBody>
                    <a:bodyPr/>
                    <a:lstStyle/>
                    <a:p>
                      <a:pPr algn="l">
                        <a:lnSpc>
                          <a:spcPts val="2879"/>
                        </a:lnSpc>
                        <a:defRPr/>
                      </a:pPr>
                      <a:r>
                        <a:rPr lang="en-US" sz="2400" b="1">
                          <a:solidFill>
                            <a:srgbClr val="3F3F3F"/>
                          </a:solidFill>
                          <a:latin typeface="Calibri (MS) Bold"/>
                          <a:ea typeface="Calibri (MS) Bold"/>
                          <a:cs typeface="Calibri (MS) Bold"/>
                          <a:sym typeface="Calibri (MS) Bold"/>
                        </a:rPr>
                        <a:t>Total Project Cost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hMerge="1">
                  <a:txBody>
                    <a:bodyPr/>
                    <a:lstStyle/>
                    <a:p>
                      <a:pPr algn="l">
                        <a:lnSpc>
                          <a:spcPts val="2879"/>
                        </a:lnSpc>
                        <a:defRPr/>
                      </a:pPr>
                      <a:r>
                        <a:rPr lang="en-US" sz="2400" b="1">
                          <a:solidFill>
                            <a:srgbClr val="3F3F3F"/>
                          </a:solidFill>
                          <a:latin typeface="Calibri (MS) Bold"/>
                          <a:ea typeface="Calibri (MS) Bold"/>
                          <a:cs typeface="Calibri (MS) Bold"/>
                          <a:sym typeface="Calibri (MS) Bold"/>
                        </a:rPr>
                        <a:t>Total Project Cost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tc>
                  <a:txBody>
                    <a:bodyPr/>
                    <a:lstStyle/>
                    <a:p>
                      <a:pPr algn="l">
                        <a:lnSpc>
                          <a:spcPts val="1679"/>
                        </a:lnSpc>
                        <a:defRPr/>
                      </a:pPr>
                      <a:r>
                        <a:rPr sz="1100" b="1">
                          <a:solidFill>
                            <a:srgbClr val="000000"/>
                          </a:solidFill>
                          <a:latin typeface="Arial"/>
                        </a:rPr>
                        <a:t>₹37,400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0E0E0"/>
                    </a:solidFill>
                  </a:tcPr>
                </a:tc>
                <a:extLst>
                  <a:ext uri="{0D108BD9-81ED-4DB2-BD59-A6C34878D82A}">
                    <a16:rowId xmlns:a16="http://schemas.microsoft.com/office/drawing/2014/main" val="10010"/>
                  </a:ext>
                </a:extLst>
              </a:tr>
            </a:tbl>
          </a:graphicData>
        </a:graphic>
      </p:graphicFrame>
      <p:grpSp>
        <p:nvGrpSpPr>
          <p:cNvPr id="19" name="Group 19"/>
          <p:cNvGrpSpPr/>
          <p:nvPr/>
        </p:nvGrpSpPr>
        <p:grpSpPr>
          <a:xfrm>
            <a:off x="345660" y="9023906"/>
            <a:ext cx="17654292" cy="1633747"/>
            <a:chOff x="0" y="0"/>
            <a:chExt cx="23539056" cy="2178329"/>
          </a:xfrm>
        </p:grpSpPr>
        <p:sp>
          <p:nvSpPr>
            <p:cNvPr id="20" name="Freeform 20"/>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1" name="Freeform 21"/>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2" name="Freeform 22"/>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3" name="Freeform 23"/>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4" name="Freeform 24"/>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5" name="Freeform 25"/>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6" name="Freeform 26"/>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7" name="Freeform 27"/>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52912" y="106566"/>
            <a:ext cx="432044" cy="837095"/>
            <a:chOff x="0" y="0"/>
            <a:chExt cx="576059" cy="1116127"/>
          </a:xfrm>
        </p:grpSpPr>
        <p:sp>
          <p:nvSpPr>
            <p:cNvPr id="3" name="Freeform 3"/>
            <p:cNvSpPr/>
            <p:nvPr/>
          </p:nvSpPr>
          <p:spPr>
            <a:xfrm>
              <a:off x="0" y="0"/>
              <a:ext cx="576072" cy="1116076"/>
            </a:xfrm>
            <a:custGeom>
              <a:avLst/>
              <a:gdLst/>
              <a:ahLst/>
              <a:cxnLst/>
              <a:rect l="l" t="t" r="r" b="b"/>
              <a:pathLst>
                <a:path w="576072" h="1116076">
                  <a:moveTo>
                    <a:pt x="0" y="0"/>
                  </a:moveTo>
                  <a:lnTo>
                    <a:pt x="576072" y="0"/>
                  </a:lnTo>
                  <a:lnTo>
                    <a:pt x="576072" y="1116076"/>
                  </a:lnTo>
                  <a:lnTo>
                    <a:pt x="0" y="1116076"/>
                  </a:lnTo>
                  <a:lnTo>
                    <a:pt x="0" y="0"/>
                  </a:lnTo>
                  <a:close/>
                </a:path>
              </a:pathLst>
            </a:custGeom>
            <a:blipFill>
              <a:blip r:embed="rId3"/>
              <a:stretch>
                <a:fillRect r="-246" b="-4"/>
              </a:stretch>
            </a:blipFill>
          </p:spPr>
        </p:sp>
      </p:grpSp>
      <p:grpSp>
        <p:nvGrpSpPr>
          <p:cNvPr id="4" name="Group 4"/>
          <p:cNvGrpSpPr/>
          <p:nvPr/>
        </p:nvGrpSpPr>
        <p:grpSpPr>
          <a:xfrm rot="-10800000">
            <a:off x="0" y="-15488"/>
            <a:ext cx="18300002" cy="1067400"/>
            <a:chOff x="0" y="0"/>
            <a:chExt cx="24400002" cy="1423200"/>
          </a:xfrm>
        </p:grpSpPr>
        <p:sp>
          <p:nvSpPr>
            <p:cNvPr id="5" name="Freeform 5"/>
            <p:cNvSpPr/>
            <p:nvPr/>
          </p:nvSpPr>
          <p:spPr>
            <a:xfrm>
              <a:off x="0" y="0"/>
              <a:ext cx="24400002" cy="1423162"/>
            </a:xfrm>
            <a:custGeom>
              <a:avLst/>
              <a:gdLst/>
              <a:ahLst/>
              <a:cxnLst/>
              <a:rect l="l" t="t" r="r" b="b"/>
              <a:pathLst>
                <a:path w="24400002" h="1423162">
                  <a:moveTo>
                    <a:pt x="24400002" y="0"/>
                  </a:moveTo>
                  <a:lnTo>
                    <a:pt x="711581" y="0"/>
                  </a:lnTo>
                  <a:cubicBezTo>
                    <a:pt x="318643" y="0"/>
                    <a:pt x="0" y="318643"/>
                    <a:pt x="0" y="711581"/>
                  </a:cubicBezTo>
                  <a:lnTo>
                    <a:pt x="0" y="1423162"/>
                  </a:lnTo>
                  <a:lnTo>
                    <a:pt x="24400002" y="1423162"/>
                  </a:lnTo>
                  <a:close/>
                </a:path>
              </a:pathLst>
            </a:custGeom>
            <a:solidFill>
              <a:srgbClr val="44546A"/>
            </a:solidFill>
          </p:spPr>
        </p:sp>
      </p:grpSp>
      <p:grpSp>
        <p:nvGrpSpPr>
          <p:cNvPr id="6" name="Group 6"/>
          <p:cNvGrpSpPr/>
          <p:nvPr/>
        </p:nvGrpSpPr>
        <p:grpSpPr>
          <a:xfrm>
            <a:off x="17390650" y="79610"/>
            <a:ext cx="786832" cy="837076"/>
            <a:chOff x="0" y="0"/>
            <a:chExt cx="1049109" cy="1116101"/>
          </a:xfrm>
        </p:grpSpPr>
        <p:sp>
          <p:nvSpPr>
            <p:cNvPr id="7" name="Freeform 7"/>
            <p:cNvSpPr/>
            <p:nvPr/>
          </p:nvSpPr>
          <p:spPr>
            <a:xfrm>
              <a:off x="0" y="0"/>
              <a:ext cx="1049147" cy="1116076"/>
            </a:xfrm>
            <a:custGeom>
              <a:avLst/>
              <a:gdLst/>
              <a:ahLst/>
              <a:cxnLst/>
              <a:rect l="l" t="t" r="r" b="b"/>
              <a:pathLst>
                <a:path w="1049147" h="1116076">
                  <a:moveTo>
                    <a:pt x="0" y="0"/>
                  </a:moveTo>
                  <a:lnTo>
                    <a:pt x="1049147" y="0"/>
                  </a:lnTo>
                  <a:lnTo>
                    <a:pt x="1049147" y="1116076"/>
                  </a:lnTo>
                  <a:lnTo>
                    <a:pt x="0" y="1116076"/>
                  </a:lnTo>
                  <a:lnTo>
                    <a:pt x="0" y="0"/>
                  </a:lnTo>
                  <a:close/>
                </a:path>
              </a:pathLst>
            </a:custGeom>
            <a:blipFill>
              <a:blip r:embed="rId4"/>
              <a:stretch>
                <a:fillRect r="3" b="-171"/>
              </a:stretch>
            </a:blipFill>
          </p:spPr>
        </p:sp>
      </p:grpSp>
      <p:grpSp>
        <p:nvGrpSpPr>
          <p:cNvPr id="8" name="Group 8"/>
          <p:cNvGrpSpPr/>
          <p:nvPr/>
        </p:nvGrpSpPr>
        <p:grpSpPr>
          <a:xfrm>
            <a:off x="1245584" y="21555"/>
            <a:ext cx="13249199" cy="1004402"/>
            <a:chOff x="0" y="0"/>
            <a:chExt cx="17665598" cy="1339202"/>
          </a:xfrm>
        </p:grpSpPr>
        <p:sp>
          <p:nvSpPr>
            <p:cNvPr id="9" name="Freeform 9"/>
            <p:cNvSpPr/>
            <p:nvPr/>
          </p:nvSpPr>
          <p:spPr>
            <a:xfrm>
              <a:off x="0" y="0"/>
              <a:ext cx="17665601" cy="1339200"/>
            </a:xfrm>
            <a:custGeom>
              <a:avLst/>
              <a:gdLst/>
              <a:ahLst/>
              <a:cxnLst/>
              <a:rect l="l" t="t" r="r" b="b"/>
              <a:pathLst>
                <a:path w="17665601" h="1339200">
                  <a:moveTo>
                    <a:pt x="0" y="0"/>
                  </a:moveTo>
                  <a:lnTo>
                    <a:pt x="17665601" y="0"/>
                  </a:lnTo>
                  <a:lnTo>
                    <a:pt x="17665601" y="1339200"/>
                  </a:lnTo>
                  <a:lnTo>
                    <a:pt x="0" y="1339200"/>
                  </a:lnTo>
                  <a:close/>
                </a:path>
              </a:pathLst>
            </a:custGeom>
            <a:blipFill>
              <a:blip r:embed="rId5">
                <a:alphaModFix amt="0"/>
              </a:blip>
              <a:stretch>
                <a:fillRect t="-207030" b="-207030"/>
              </a:stretch>
            </a:blipFill>
          </p:spPr>
        </p:sp>
        <p:sp>
          <p:nvSpPr>
            <p:cNvPr id="10" name="TextBox 10"/>
            <p:cNvSpPr txBox="1"/>
            <p:nvPr/>
          </p:nvSpPr>
          <p:spPr>
            <a:xfrm>
              <a:off x="0" y="-85725"/>
              <a:ext cx="17665598" cy="1424927"/>
            </a:xfrm>
            <a:prstGeom prst="rect">
              <a:avLst/>
            </a:prstGeom>
          </p:spPr>
          <p:txBody>
            <a:bodyPr lIns="0" tIns="0" rIns="0" bIns="0" rtlCol="0" anchor="ctr"/>
            <a:lstStyle/>
            <a:p>
              <a:pPr algn="l">
                <a:lnSpc>
                  <a:spcPts val="5759"/>
                </a:lnSpc>
              </a:pPr>
              <a:r>
                <a:rPr lang="en-US" sz="4800" b="1">
                  <a:solidFill>
                    <a:srgbClr val="FFE599"/>
                  </a:solidFill>
                  <a:latin typeface="Calibri (MS) Bold"/>
                  <a:ea typeface="Calibri (MS) Bold"/>
                  <a:cs typeface="Calibri (MS) Bold"/>
                  <a:sym typeface="Calibri (MS) Bold"/>
                </a:rPr>
                <a:t>Working Model Video</a:t>
              </a:r>
            </a:p>
          </p:txBody>
        </p:sp>
      </p:grpSp>
      <p:grpSp>
        <p:nvGrpSpPr>
          <p:cNvPr id="11" name="Group 11"/>
          <p:cNvGrpSpPr/>
          <p:nvPr/>
        </p:nvGrpSpPr>
        <p:grpSpPr>
          <a:xfrm>
            <a:off x="327422" y="140056"/>
            <a:ext cx="605609" cy="767429"/>
            <a:chOff x="0" y="0"/>
            <a:chExt cx="807479" cy="1023239"/>
          </a:xfrm>
        </p:grpSpPr>
        <p:sp>
          <p:nvSpPr>
            <p:cNvPr id="12" name="Freeform 12"/>
            <p:cNvSpPr/>
            <p:nvPr/>
          </p:nvSpPr>
          <p:spPr>
            <a:xfrm>
              <a:off x="0" y="0"/>
              <a:ext cx="807466" cy="1023239"/>
            </a:xfrm>
            <a:custGeom>
              <a:avLst/>
              <a:gdLst/>
              <a:ahLst/>
              <a:cxnLst/>
              <a:rect l="l" t="t" r="r" b="b"/>
              <a:pathLst>
                <a:path w="807466" h="1023239">
                  <a:moveTo>
                    <a:pt x="0" y="0"/>
                  </a:moveTo>
                  <a:lnTo>
                    <a:pt x="807466" y="0"/>
                  </a:lnTo>
                  <a:lnTo>
                    <a:pt x="807466" y="1023239"/>
                  </a:lnTo>
                  <a:lnTo>
                    <a:pt x="0" y="1023239"/>
                  </a:lnTo>
                  <a:lnTo>
                    <a:pt x="0" y="0"/>
                  </a:lnTo>
                  <a:close/>
                </a:path>
              </a:pathLst>
            </a:custGeom>
            <a:blipFill>
              <a:blip r:embed="rId6"/>
              <a:stretch>
                <a:fillRect r="-1"/>
              </a:stretch>
            </a:blipFill>
          </p:spPr>
        </p:sp>
      </p:grpSp>
      <p:grpSp>
        <p:nvGrpSpPr>
          <p:cNvPr id="13" name="Group 13"/>
          <p:cNvGrpSpPr/>
          <p:nvPr/>
        </p:nvGrpSpPr>
        <p:grpSpPr>
          <a:xfrm>
            <a:off x="17330528" y="21374"/>
            <a:ext cx="815997" cy="886196"/>
            <a:chOff x="0" y="0"/>
            <a:chExt cx="1087996" cy="1181595"/>
          </a:xfrm>
        </p:grpSpPr>
        <p:sp>
          <p:nvSpPr>
            <p:cNvPr id="14" name="Freeform 14"/>
            <p:cNvSpPr/>
            <p:nvPr/>
          </p:nvSpPr>
          <p:spPr>
            <a:xfrm>
              <a:off x="0" y="0"/>
              <a:ext cx="1088009" cy="1181608"/>
            </a:xfrm>
            <a:custGeom>
              <a:avLst/>
              <a:gdLst/>
              <a:ahLst/>
              <a:cxnLst/>
              <a:rect l="l" t="t" r="r" b="b"/>
              <a:pathLst>
                <a:path w="1088009" h="1181608">
                  <a:moveTo>
                    <a:pt x="0" y="0"/>
                  </a:moveTo>
                  <a:lnTo>
                    <a:pt x="1088009" y="0"/>
                  </a:lnTo>
                  <a:lnTo>
                    <a:pt x="1088009" y="1181608"/>
                  </a:lnTo>
                  <a:lnTo>
                    <a:pt x="0" y="1181608"/>
                  </a:lnTo>
                  <a:close/>
                </a:path>
              </a:pathLst>
            </a:custGeom>
            <a:solidFill>
              <a:srgbClr val="44546A"/>
            </a:solidFill>
          </p:spPr>
        </p:sp>
      </p:grpSp>
      <p:grpSp>
        <p:nvGrpSpPr>
          <p:cNvPr id="15" name="Group 15"/>
          <p:cNvGrpSpPr/>
          <p:nvPr/>
        </p:nvGrpSpPr>
        <p:grpSpPr>
          <a:xfrm>
            <a:off x="14807355" y="4048"/>
            <a:ext cx="2945997" cy="1000201"/>
            <a:chOff x="0" y="0"/>
            <a:chExt cx="3927996" cy="1333602"/>
          </a:xfrm>
        </p:grpSpPr>
        <p:sp>
          <p:nvSpPr>
            <p:cNvPr id="16" name="Freeform 16"/>
            <p:cNvSpPr/>
            <p:nvPr/>
          </p:nvSpPr>
          <p:spPr>
            <a:xfrm>
              <a:off x="0" y="0"/>
              <a:ext cx="3928000" cy="1333600"/>
            </a:xfrm>
            <a:custGeom>
              <a:avLst/>
              <a:gdLst/>
              <a:ahLst/>
              <a:cxnLst/>
              <a:rect l="l" t="t" r="r" b="b"/>
              <a:pathLst>
                <a:path w="3928000" h="1333600">
                  <a:moveTo>
                    <a:pt x="0" y="0"/>
                  </a:moveTo>
                  <a:lnTo>
                    <a:pt x="3928000" y="0"/>
                  </a:lnTo>
                  <a:lnTo>
                    <a:pt x="3928000" y="1333600"/>
                  </a:lnTo>
                  <a:lnTo>
                    <a:pt x="0" y="1333600"/>
                  </a:lnTo>
                  <a:close/>
                </a:path>
              </a:pathLst>
            </a:custGeom>
            <a:blipFill>
              <a:blip r:embed="rId5">
                <a:alphaModFix amt="0"/>
              </a:blip>
              <a:stretch>
                <a:fillRect t="-7391" b="-7391"/>
              </a:stretch>
            </a:blipFill>
          </p:spPr>
        </p:sp>
        <p:sp>
          <p:nvSpPr>
            <p:cNvPr id="17" name="TextBox 17"/>
            <p:cNvSpPr txBox="1"/>
            <p:nvPr/>
          </p:nvSpPr>
          <p:spPr>
            <a:xfrm>
              <a:off x="0" y="-66675"/>
              <a:ext cx="3927996" cy="1400277"/>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MEDHA 2026</a:t>
              </a:r>
            </a:p>
          </p:txBody>
        </p:sp>
      </p:grpSp>
      <p:grpSp>
        <p:nvGrpSpPr>
          <p:cNvPr id="18" name="Group 18"/>
          <p:cNvGrpSpPr/>
          <p:nvPr/>
        </p:nvGrpSpPr>
        <p:grpSpPr>
          <a:xfrm>
            <a:off x="355185" y="9014381"/>
            <a:ext cx="17654292" cy="1633747"/>
            <a:chOff x="0" y="0"/>
            <a:chExt cx="23539056" cy="2178329"/>
          </a:xfrm>
        </p:grpSpPr>
        <p:sp>
          <p:nvSpPr>
            <p:cNvPr id="19" name="Freeform 19"/>
            <p:cNvSpPr/>
            <p:nvPr/>
          </p:nvSpPr>
          <p:spPr>
            <a:xfrm>
              <a:off x="3747191" y="0"/>
              <a:ext cx="3267494" cy="2178329"/>
            </a:xfrm>
            <a:custGeom>
              <a:avLst/>
              <a:gdLst/>
              <a:ahLst/>
              <a:cxnLst/>
              <a:rect l="l" t="t" r="r" b="b"/>
              <a:pathLst>
                <a:path w="3267494" h="2178329">
                  <a:moveTo>
                    <a:pt x="0" y="0"/>
                  </a:moveTo>
                  <a:lnTo>
                    <a:pt x="3267494" y="0"/>
                  </a:lnTo>
                  <a:lnTo>
                    <a:pt x="3267494" y="2178329"/>
                  </a:lnTo>
                  <a:lnTo>
                    <a:pt x="0" y="2178329"/>
                  </a:lnTo>
                  <a:lnTo>
                    <a:pt x="0" y="0"/>
                  </a:lnTo>
                  <a:close/>
                </a:path>
              </a:pathLst>
            </a:custGeom>
            <a:blipFill>
              <a:blip r:embed="rId7"/>
              <a:stretch>
                <a:fillRect/>
              </a:stretch>
            </a:blipFill>
          </p:spPr>
        </p:sp>
        <p:sp>
          <p:nvSpPr>
            <p:cNvPr id="20" name="Freeform 20"/>
            <p:cNvSpPr/>
            <p:nvPr/>
          </p:nvSpPr>
          <p:spPr>
            <a:xfrm>
              <a:off x="16942606" y="434518"/>
              <a:ext cx="4476108" cy="1079076"/>
            </a:xfrm>
            <a:custGeom>
              <a:avLst/>
              <a:gdLst/>
              <a:ahLst/>
              <a:cxnLst/>
              <a:rect l="l" t="t" r="r" b="b"/>
              <a:pathLst>
                <a:path w="4476108" h="1079076">
                  <a:moveTo>
                    <a:pt x="0" y="0"/>
                  </a:moveTo>
                  <a:lnTo>
                    <a:pt x="4476108" y="0"/>
                  </a:lnTo>
                  <a:lnTo>
                    <a:pt x="4476108" y="1079076"/>
                  </a:lnTo>
                  <a:lnTo>
                    <a:pt x="0" y="1079076"/>
                  </a:lnTo>
                  <a:lnTo>
                    <a:pt x="0" y="0"/>
                  </a:lnTo>
                  <a:close/>
                </a:path>
              </a:pathLst>
            </a:custGeom>
            <a:blipFill>
              <a:blip r:embed="rId8"/>
              <a:stretch>
                <a:fillRect t="-5336" b="-5336"/>
              </a:stretch>
            </a:blipFill>
          </p:spPr>
        </p:sp>
        <p:sp>
          <p:nvSpPr>
            <p:cNvPr id="21" name="Freeform 21"/>
            <p:cNvSpPr/>
            <p:nvPr/>
          </p:nvSpPr>
          <p:spPr>
            <a:xfrm>
              <a:off x="9361521" y="147009"/>
              <a:ext cx="3018579" cy="1516817"/>
            </a:xfrm>
            <a:custGeom>
              <a:avLst/>
              <a:gdLst/>
              <a:ahLst/>
              <a:cxnLst/>
              <a:rect l="l" t="t" r="r" b="b"/>
              <a:pathLst>
                <a:path w="3018579" h="1516817">
                  <a:moveTo>
                    <a:pt x="0" y="0"/>
                  </a:moveTo>
                  <a:lnTo>
                    <a:pt x="3018579" y="0"/>
                  </a:lnTo>
                  <a:lnTo>
                    <a:pt x="3018579" y="1516817"/>
                  </a:lnTo>
                  <a:lnTo>
                    <a:pt x="0" y="1516817"/>
                  </a:lnTo>
                  <a:lnTo>
                    <a:pt x="0" y="0"/>
                  </a:lnTo>
                  <a:close/>
                </a:path>
              </a:pathLst>
            </a:custGeom>
            <a:blipFill>
              <a:blip r:embed="rId9"/>
              <a:stretch>
                <a:fillRect t="-30723" b="-26499"/>
              </a:stretch>
            </a:blipFill>
          </p:spPr>
        </p:sp>
        <p:sp>
          <p:nvSpPr>
            <p:cNvPr id="22" name="Freeform 22"/>
            <p:cNvSpPr/>
            <p:nvPr/>
          </p:nvSpPr>
          <p:spPr>
            <a:xfrm>
              <a:off x="6913085" y="455965"/>
              <a:ext cx="1461533" cy="1079076"/>
            </a:xfrm>
            <a:custGeom>
              <a:avLst/>
              <a:gdLst/>
              <a:ahLst/>
              <a:cxnLst/>
              <a:rect l="l" t="t" r="r" b="b"/>
              <a:pathLst>
                <a:path w="1461533" h="1079076">
                  <a:moveTo>
                    <a:pt x="0" y="0"/>
                  </a:moveTo>
                  <a:lnTo>
                    <a:pt x="1461533" y="0"/>
                  </a:lnTo>
                  <a:lnTo>
                    <a:pt x="1461533" y="1079076"/>
                  </a:lnTo>
                  <a:lnTo>
                    <a:pt x="0" y="1079076"/>
                  </a:lnTo>
                  <a:lnTo>
                    <a:pt x="0" y="0"/>
                  </a:lnTo>
                  <a:close/>
                </a:path>
              </a:pathLst>
            </a:custGeom>
            <a:blipFill>
              <a:blip r:embed="rId10"/>
              <a:stretch>
                <a:fillRect l="-97848" t="-88300" r="-107359" b="-90003"/>
              </a:stretch>
            </a:blipFill>
          </p:spPr>
        </p:sp>
        <p:sp>
          <p:nvSpPr>
            <p:cNvPr id="23" name="Freeform 23"/>
            <p:cNvSpPr/>
            <p:nvPr/>
          </p:nvSpPr>
          <p:spPr>
            <a:xfrm>
              <a:off x="8200195" y="187006"/>
              <a:ext cx="1616995" cy="1616995"/>
            </a:xfrm>
            <a:custGeom>
              <a:avLst/>
              <a:gdLst/>
              <a:ahLst/>
              <a:cxnLst/>
              <a:rect l="l" t="t" r="r" b="b"/>
              <a:pathLst>
                <a:path w="1616995" h="1616995">
                  <a:moveTo>
                    <a:pt x="0" y="0"/>
                  </a:moveTo>
                  <a:lnTo>
                    <a:pt x="1616995" y="0"/>
                  </a:lnTo>
                  <a:lnTo>
                    <a:pt x="1616995" y="1616995"/>
                  </a:lnTo>
                  <a:lnTo>
                    <a:pt x="0" y="1616995"/>
                  </a:lnTo>
                  <a:lnTo>
                    <a:pt x="0" y="0"/>
                  </a:lnTo>
                  <a:close/>
                </a:path>
              </a:pathLst>
            </a:custGeom>
            <a:blipFill>
              <a:blip r:embed="rId11"/>
              <a:stretch>
                <a:fillRect/>
              </a:stretch>
            </a:blipFill>
          </p:spPr>
        </p:sp>
        <p:sp>
          <p:nvSpPr>
            <p:cNvPr id="24" name="Freeform 24"/>
            <p:cNvSpPr/>
            <p:nvPr/>
          </p:nvSpPr>
          <p:spPr>
            <a:xfrm>
              <a:off x="0" y="446226"/>
              <a:ext cx="3653041" cy="1055661"/>
            </a:xfrm>
            <a:custGeom>
              <a:avLst/>
              <a:gdLst/>
              <a:ahLst/>
              <a:cxnLst/>
              <a:rect l="l" t="t" r="r" b="b"/>
              <a:pathLst>
                <a:path w="3653041" h="1055661">
                  <a:moveTo>
                    <a:pt x="0" y="0"/>
                  </a:moveTo>
                  <a:lnTo>
                    <a:pt x="3653041" y="0"/>
                  </a:lnTo>
                  <a:lnTo>
                    <a:pt x="3653041" y="1055661"/>
                  </a:lnTo>
                  <a:lnTo>
                    <a:pt x="0" y="1055661"/>
                  </a:lnTo>
                  <a:lnTo>
                    <a:pt x="0" y="0"/>
                  </a:lnTo>
                  <a:close/>
                </a:path>
              </a:pathLst>
            </a:custGeom>
            <a:blipFill>
              <a:blip r:embed="rId12"/>
              <a:stretch>
                <a:fillRect/>
              </a:stretch>
            </a:blipFill>
          </p:spPr>
        </p:sp>
        <p:sp>
          <p:nvSpPr>
            <p:cNvPr id="25" name="Freeform 25"/>
            <p:cNvSpPr/>
            <p:nvPr/>
          </p:nvSpPr>
          <p:spPr>
            <a:xfrm>
              <a:off x="12380100" y="580110"/>
              <a:ext cx="4282654" cy="787892"/>
            </a:xfrm>
            <a:custGeom>
              <a:avLst/>
              <a:gdLst/>
              <a:ahLst/>
              <a:cxnLst/>
              <a:rect l="l" t="t" r="r" b="b"/>
              <a:pathLst>
                <a:path w="4282654" h="787892">
                  <a:moveTo>
                    <a:pt x="0" y="0"/>
                  </a:moveTo>
                  <a:lnTo>
                    <a:pt x="4282653" y="0"/>
                  </a:lnTo>
                  <a:lnTo>
                    <a:pt x="4282653" y="787892"/>
                  </a:lnTo>
                  <a:lnTo>
                    <a:pt x="0" y="787892"/>
                  </a:lnTo>
                  <a:lnTo>
                    <a:pt x="0" y="0"/>
                  </a:lnTo>
                  <a:close/>
                </a:path>
              </a:pathLst>
            </a:custGeom>
            <a:blipFill>
              <a:blip r:embed="rId13"/>
              <a:stretch>
                <a:fillRect/>
              </a:stretch>
            </a:blipFill>
          </p:spPr>
        </p:sp>
        <p:sp>
          <p:nvSpPr>
            <p:cNvPr id="26" name="Freeform 26"/>
            <p:cNvSpPr/>
            <p:nvPr/>
          </p:nvSpPr>
          <p:spPr>
            <a:xfrm>
              <a:off x="21538583" y="147009"/>
              <a:ext cx="2000473" cy="1549817"/>
            </a:xfrm>
            <a:custGeom>
              <a:avLst/>
              <a:gdLst/>
              <a:ahLst/>
              <a:cxnLst/>
              <a:rect l="l" t="t" r="r" b="b"/>
              <a:pathLst>
                <a:path w="2000473" h="1549817">
                  <a:moveTo>
                    <a:pt x="0" y="0"/>
                  </a:moveTo>
                  <a:lnTo>
                    <a:pt x="2000473" y="0"/>
                  </a:lnTo>
                  <a:lnTo>
                    <a:pt x="2000473" y="1549816"/>
                  </a:lnTo>
                  <a:lnTo>
                    <a:pt x="0" y="1549816"/>
                  </a:lnTo>
                  <a:lnTo>
                    <a:pt x="0" y="0"/>
                  </a:lnTo>
                  <a:close/>
                </a:path>
              </a:pathLst>
            </a:custGeom>
            <a:blipFill>
              <a:blip r:embed="rId14"/>
              <a:stretch>
                <a:fillRect/>
              </a:stretch>
            </a:blipFill>
          </p:spPr>
        </p:sp>
      </p:grpSp>
      <p:pic>
        <p:nvPicPr>
          <p:cNvPr id="27" name="Picture 26" descr="image.jpg"/>
          <p:cNvPicPr>
            <a:picLocks noChangeAspect="1"/>
          </p:cNvPicPr>
          <p:nvPr/>
        </p:nvPicPr>
        <p:blipFill>
          <a:blip r:embed="rId15"/>
          <a:stretch>
            <a:fillRect/>
          </a:stretch>
        </p:blipFill>
        <p:spPr>
          <a:xfrm>
            <a:off x="7164734" y="1737360"/>
            <a:ext cx="3958530" cy="5943600"/>
          </a:xfrm>
          <a:prstGeom prst="rect">
            <a:avLst/>
          </a:prstGeom>
        </p:spPr>
      </p:pic>
      <p:sp>
        <p:nvSpPr>
          <p:cNvPr id="28" name="TextBox 27"/>
          <p:cNvSpPr txBox="1"/>
          <p:nvPr/>
        </p:nvSpPr>
        <p:spPr>
          <a:xfrm>
            <a:off x="1828800" y="960120"/>
            <a:ext cx="14630400" cy="548640"/>
          </a:xfrm>
          <a:prstGeom prst="rect">
            <a:avLst/>
          </a:prstGeom>
          <a:noFill/>
        </p:spPr>
        <p:txBody>
          <a:bodyPr wrap="square">
            <a:spAutoFit/>
          </a:bodyPr>
          <a:lstStyle/>
          <a:p>
            <a:pPr algn="ctr"/>
            <a:r>
              <a:rPr sz="2400" b="1">
                <a:solidFill>
                  <a:srgbClr val="2B3A55"/>
                </a:solidFill>
                <a:latin typeface="Arial"/>
              </a:rPr>
              <a:t>Proposed Device — Concept Render</a:t>
            </a:r>
          </a:p>
        </p:txBody>
      </p:sp>
      <p:sp>
        <p:nvSpPr>
          <p:cNvPr id="29" name="TextBox 28"/>
          <p:cNvSpPr txBox="1"/>
          <p:nvPr/>
        </p:nvSpPr>
        <p:spPr>
          <a:xfrm>
            <a:off x="1828800" y="7863840"/>
            <a:ext cx="14630400" cy="914400"/>
          </a:xfrm>
          <a:prstGeom prst="rect">
            <a:avLst/>
          </a:prstGeom>
          <a:noFill/>
        </p:spPr>
        <p:txBody>
          <a:bodyPr wrap="square">
            <a:spAutoFit/>
          </a:bodyPr>
          <a:lstStyle/>
          <a:p>
            <a:pPr algn="ctr"/>
            <a:r>
              <a:rPr sz="1400" b="0">
                <a:solidFill>
                  <a:srgbClr val="404040"/>
                </a:solidFill>
                <a:latin typeface="Arial"/>
              </a:rPr>
              <a:t>Handheld optical probe with charging dock, single-button power control and a rotary intensity/mode dial; teal contact tip houses the dual-wavelength LED and photodiode assembly. Working-model demonstration video to be linked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MEDHA PPT</dc:title>
  <cp:lastModifiedBy>Ruchi Harade</cp:lastModifiedBy>
  <cp:revision>2</cp:revision>
  <dcterms:created xsi:type="dcterms:W3CDTF">2006-08-16T00:00:00Z</dcterms:created>
  <dcterms:modified xsi:type="dcterms:W3CDTF">2026-09-22T19:19:12Z</dcterms:modified>
  <dc:identifier>DAHVqjemBUM</dc:identifier>
</cp:coreProperties>
</file>